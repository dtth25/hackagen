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1: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Contents 1 Giới thiệu vềPython cho Trí tuệNhân tạo 1 1.1 Cơ bản vềPython . . . . . . . . . . . . . . . . . . . . . . . . . 1 1.1.1 Vòng lặp và Cấu trúc điều khiển . . . . . . . . . . . . . 1 1.1.2 Hàm trong Python . . .</a:t>
            </a:r>
          </a:p>
          <a:p>
            <a:pPr>
              <a:defRPr sz="2400">
                <a:solidFill>
                  <a:srgbClr val="334155"/>
                </a:solidFill>
              </a:defRPr>
            </a:pPr>
            <a:r>
              <a:t>- Ghi nhớ ý chính và liên hệ với nội dung trước đó.</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2: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Contents 7.9 LLM Agents: Cơ bản và Ứng dụng . . . . . . . . . . . . . . . . 118 7.9.1 Ý tưởng chính . . . . . . . . . . . . . . . . . . . . . . . 118 7.9.2 Ứng dụng ví dụ. . . . . . . . . . . . . . . . . . . . . . . 118</a:t>
            </a:r>
          </a:p>
          <a:p>
            <a:pPr>
              <a:defRPr sz="2400">
                <a:solidFill>
                  <a:srgbClr val="334155"/>
                </a:solidFill>
              </a:defRPr>
            </a:pPr>
            <a:r>
              <a:t>- Ghi nhớ ý chính và liên hệ với nội dung trước đó.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3: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Contents 4.1.4 F1-Score . . . . . . . . . . . . . . . . . . . . . . . . . . . 32 4.1.5 So Sánh Giữa Các ChỉSố. . . . . . . . . . . . . . . . . 33 4.2 Hiện Tượng Underfitting và Overfitting . . . . . . . . . . . . . 33 4.</a:t>
            </a:r>
          </a:p>
          <a:p>
            <a:pPr>
              <a:defRPr sz="2400">
                <a:solidFill>
                  <a:srgbClr val="334155"/>
                </a:solidFill>
              </a:defRPr>
            </a:pPr>
            <a:r>
              <a:t>- Ghi nhớ ý chính và liên hệ với nội dung trước đó.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4: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Bài tập thực hành . . . . . . . . . . . . . . . . . . . . . 51 6.2 Stochastic Gradient Descent (SGD) và Mini-Batch Gradient Descent . . . . . . . . . . . . . . . . . 52 6.2.1 Tổng quan vềGradient Descent . . . . . . . .</a:t>
            </a:r>
          </a:p>
          <a:p>
            <a:pPr>
              <a:defRPr sz="2400">
                <a:solidFill>
                  <a:srgbClr val="334155"/>
                </a:solidFill>
              </a:defRPr>
            </a:pPr>
            <a:r>
              <a:t>- Ghi nhớ ý chính và liên hệ với nội dung trước đó.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5: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Chapter 1 Giới thiệu vềPython cho Trí tuệ Nhân tạo Chương này giới thiệu các kiến thức lập trình cơ bản cần thiết cho các dựán Trí tuệNhân tạo (AI), sửdụng Python làm ngôn ngữchính. Chúng ta sẽtìm hiểu các khái niệm cơ b</a:t>
            </a:r>
          </a:p>
          <a:p>
            <a:pPr>
              <a:defRPr sz="2400">
                <a:solidFill>
                  <a:srgbClr val="334155"/>
                </a:solidFill>
              </a:defRPr>
            </a:pPr>
            <a:r>
              <a:t>- Ghi nhớ ý chính và liên hệ với nội dung trước đó.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6: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Chapter 2 Học có giám sát – Supervised Learning 2.1 Giới thiệu Học có giám sát (Supervised Learning) là một nhánh quan trọng trong học máy (Machine Learning). Ý tưởng cơ bản là: từmột tập dữliệu đã biết đầu vào (features</a:t>
            </a:r>
          </a:p>
          <a:p>
            <a:pPr>
              <a:defRPr sz="2400">
                <a:solidFill>
                  <a:srgbClr val="334155"/>
                </a:solidFill>
              </a:defRPr>
            </a:pPr>
            <a:r>
              <a:t>- Ghi nhớ ý chính và liên hệ với nội dung trước đó.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7: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 . . . . . . . . . . . . . . . . . . . 27 3.5 Phân Cụm Phân Cấp (Hierarchical Clustering) . . . . . . . . . 28 3.5.1 Giới thiệu . . . . . . . . . . . . . . . . . . . . . . . . . . 28 3.5.2 Cách Thuật Toán Hoạt Động . .</a:t>
            </a:r>
          </a:p>
          <a:p>
            <a:pPr>
              <a:defRPr sz="2400">
                <a:solidFill>
                  <a:srgbClr val="334155"/>
                </a:solidFill>
              </a:defRPr>
            </a:pPr>
            <a:r>
              <a:t>- Ghi nhớ ý chính và liên hệ với nội dung trước đó.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square">
            <a:spAutoFit/>
          </a:bodyPr>
          <a:lstStyle/>
          <a:p>
            <a:pPr>
              <a:defRPr sz="3600" b="1">
                <a:solidFill>
                  <a:srgbClr val="1E3A8A"/>
                </a:solidFill>
              </a:defRPr>
            </a:pPr>
            <a:r>
              <a:t>Slide 8: Ý chính</a:t>
            </a:r>
          </a:p>
        </p:txBody>
      </p:sp>
      <p:sp>
        <p:nvSpPr>
          <p:cNvPr id="3" name="TextBox 2"/>
          <p:cNvSpPr txBox="1"/>
          <p:nvPr/>
        </p:nvSpPr>
        <p:spPr>
          <a:xfrm>
            <a:off x="731520" y="1645920"/>
            <a:ext cx="10698480" cy="4572000"/>
          </a:xfrm>
          <a:prstGeom prst="rect">
            <a:avLst/>
          </a:prstGeom>
          <a:noFill/>
        </p:spPr>
        <p:txBody>
          <a:bodyPr wrap="square">
            <a:spAutoFit/>
          </a:bodyPr>
          <a:lstStyle/>
          <a:p>
            <a:pPr>
              <a:defRPr sz="2400">
                <a:solidFill>
                  <a:srgbClr val="334155"/>
                </a:solidFill>
              </a:defRPr>
            </a:pPr>
            <a:r>
              <a:t>- 5.3 Lan truyền ngược (Backpropagation) Tóm tắt • Cho phép huấn luyện mạng nơ-ron sâu. • Sửdụng quy tắc chuỗi đểtính gradient. • Được triển khai trong các thư viện hiện đại (vd: PyTorch, TensorFlow). 43</a:t>
            </a:r>
          </a:p>
          <a:p>
            <a:pPr>
              <a:defRPr sz="2400">
                <a:solidFill>
                  <a:srgbClr val="334155"/>
                </a:solidFill>
              </a:defRPr>
            </a:pPr>
            <a:r>
              <a:t>- Ghi nhớ ý chính và liên hệ với nội dung trước đó.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