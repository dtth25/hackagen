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4.6 Comparison to sorting . . . . . . . . . . . . . . . . . . . . . . . . . . . 44 5 Complete search 47 5.1 Generating subsets . . . . . . . . . . . . . . . . . . . . . . . . . . . . . 47 5.2 Generating permutations .</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"41 4 6 comparison to sorting 44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Sliding window minimum A sliding window is a constant-size subarray that moves from left to right through the array. At each window position, we want to calculate some infor- mation about the elements inside the window.</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"Sliding window minimum a sliding window is 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true in the set of integers. Functions The function ⌊x⌋rounds the number x down to an integer, and the function ⌈x⌉ rounds the number x up to an integer. For example, ⌊3/2⌋= 1 and ⌈3/2⌉= 2. The functions min(x1,x2,...</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"Is true in the set of integers functions".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16 Directed graphs In this chapter, we focus on two classes of directed graphs: • Acyclic graphs: There are no cycles in the graph, so there is no path from any node to itself1. • Successor graphs: The outdegree</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"Chapter 16 directed graphs in this chapter we".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1 4 5 3 4 1 2 3 4 The next new element 1 is smaller than all elements in the queue. Thus, all elements are removed from the queue and it will only contain the element 1: 2 1 4 5 3 4 1 2 1 81</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"2 1 4 5 3 4 1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Modular exponentiation There is often need to efﬁciently calculate the value of xn mod m. This can be done in O(logn) time using the following recursion: xn =        1 n = 0 xn/2 · xn/2 n is even xn−1 · x n is odd</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"Modular exponentiation there is often need to efﬁciently".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Complete search Complete search is a general method that can be used to solve almost any algorithm problem. The idea is to generate all possible solutions to the problem using brute force, and then select the b</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"Chapter 5 complete search complete search is 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26 String algorithms This chapter deals with efﬁcient algorithms for string processing. Many string problems can be easily solved in O(n2) time, but the challenge is to ﬁnd algorithms that work in O(n) or O(nlogn</a:t>
            </a:r>
          </a:p>
          <a:p/>
          <a:p>
            <a:r>
              <a:t>Giảng viên nên diễn giải thêm bối cảnh, phân tích từng ý trên slide và liên hệ khái niệm này với phần trước của bài giảng để sinh viên dễ tiếp thu. Kết thúc bằng câu hỏi chuyển tiếp sang slide sau.</a:t>
            </a:r>
          </a:p>
          <a:p/>
          <a:p>
            <a:r>
              <a:t>Câu hỏi cho lớp: Hãy giải thích ngắn gọn nội dung của slide "Chapter 26 string algorithms this chapter deals with".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1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41 4 6 comparison to sorting 44 5</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41 4.6 Comparison to sorting . . . . . . . . . . . . . . . . . . . . . . . . . . . 44 5 Complete search 47 5.1 Generatin</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41 4.6 Comparison to sorting . . . . . . . . . . . . . . . . . . . . . . . . . . . 44 5 Complete search 47 5.1</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2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Sliding window minimum a sliding window is a</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Sliding window minimum A sliding window is a constant-size subarray that moves from left to right through the array. At</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Sliding window minimum A sliding window is a constant-size subarray that moves from left to right through the</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3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Is true in the set of integers functions</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is true in the set of integers. Functions The function ⌊x⌋rounds the number x down to an integer, and the function ⌈x⌉ r</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is true in the set of integers. Functions The function ⌊x⌋rounds the number x down to an integer, and the func</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4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Chapter 16 directed graphs in this chapter we</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Chapter 16 Directed graphs In this chapter, we focus on two classes of directed graphs: • Acyclic graphs: There are no c</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Chapter 16 Directed graphs In this chapter, we focus on two classes of directed graphs: • Acyclic graphs: Ther</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5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2 1 4 5 3 4 1 2</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2 1 4 5 3 4 1 2 3 4 The next new element 1 is smaller than all elements in the queue. Thus, all elements are removed fro</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2 1 4 5 3 4 1 2 3 4 The next new element 1 is smaller than all elements in the queue. Thus, all elements are r</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6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Modular exponentiation there is often need to efﬁciently</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Modular exponentiation There is often need to efﬁciently calculate the value of xn mod m. This can be done in O(logn) ti</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Modular exponentiation There is often need to efﬁciently calculate the value of xn mod m. This can be done in</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7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Chapter 5 complete search complete search is a</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Chapter 5 Complete search Complete search is a general method that can be used to solve almost any algorithm problem. Th</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Chapter 5 Complete search Complete search is a general method that can be used to solve almost any algorithm p</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8229600" cy="320040"/>
          </a:xfrm>
          <a:prstGeom prst="rect">
            <a:avLst/>
          </a:prstGeom>
          <a:noFill/>
        </p:spPr>
        <p:txBody>
          <a:bodyPr wrap="square">
            <a:spAutoFit/>
          </a:bodyPr>
          <a:lstStyle/>
          <a:p>
            <a:pPr>
              <a:defRPr sz="1100" b="0" i="0">
                <a:solidFill>
                  <a:srgbClr val="64748B"/>
                </a:solidFill>
              </a:defRPr>
            </a:pPr>
            <a:r>
              <a:t>slide bài giảng</a:t>
            </a:r>
          </a:p>
        </p:txBody>
      </p:sp>
      <p:sp>
        <p:nvSpPr>
          <p:cNvPr id="4" name="Rectangle 3"/>
          <p:cNvSpPr/>
          <p:nvPr/>
        </p:nvSpPr>
        <p:spPr>
          <a:xfrm>
            <a:off x="0" y="6711696"/>
            <a:ext cx="12191695" cy="27432"/>
          </a:xfrm>
          <a:prstGeom prst="rect">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19088"/>
            <a:ext cx="1005840" cy="320040"/>
          </a:xfrm>
          <a:prstGeom prst="rect">
            <a:avLst/>
          </a:prstGeom>
          <a:noFill/>
        </p:spPr>
        <p:txBody>
          <a:bodyPr wrap="square">
            <a:spAutoFit/>
          </a:bodyPr>
          <a:lstStyle/>
          <a:p>
            <a:pPr algn="r">
              <a:defRPr sz="1200" b="0" i="0">
                <a:solidFill>
                  <a:srgbClr val="64748B"/>
                </a:solidFill>
              </a:defRPr>
            </a:pPr>
            <a:r>
              <a:t>8 / 8</a:t>
            </a:r>
          </a:p>
        </p:txBody>
      </p:sp>
      <p:sp>
        <p:nvSpPr>
          <p:cNvPr id="6" name="TextBox 5"/>
          <p:cNvSpPr txBox="1"/>
          <p:nvPr/>
        </p:nvSpPr>
        <p:spPr>
          <a:xfrm>
            <a:off x="731520" y="502920"/>
            <a:ext cx="10698480" cy="868680"/>
          </a:xfrm>
          <a:prstGeom prst="rect">
            <a:avLst/>
          </a:prstGeom>
          <a:noFill/>
        </p:spPr>
        <p:txBody>
          <a:bodyPr wrap="square">
            <a:spAutoFit/>
          </a:bodyPr>
          <a:lstStyle/>
          <a:p>
            <a:pPr>
              <a:defRPr sz="3000" b="1" i="0">
                <a:solidFill>
                  <a:srgbClr val="312E81"/>
                </a:solidFill>
              </a:defRPr>
            </a:pPr>
            <a:r>
              <a:t>Chapter 26 string algorithms this chapter deals with</a:t>
            </a:r>
          </a:p>
        </p:txBody>
      </p:sp>
      <p:sp>
        <p:nvSpPr>
          <p:cNvPr id="7" name="TextBox 6"/>
          <p:cNvSpPr txBox="1"/>
          <p:nvPr/>
        </p:nvSpPr>
        <p:spPr>
          <a:xfrm>
            <a:off x="731520" y="1417320"/>
            <a:ext cx="10698480" cy="502920"/>
          </a:xfrm>
          <a:prstGeom prst="rect">
            <a:avLst/>
          </a:prstGeom>
          <a:noFill/>
        </p:spPr>
        <p:txBody>
          <a:bodyPr wrap="square">
            <a:spAutoFit/>
          </a:bodyPr>
          <a:lstStyle/>
          <a:p>
            <a:pPr>
              <a:defRPr sz="1600" b="0" i="1">
                <a:solidFill>
                  <a:srgbClr val="4F46E5"/>
                </a:solidFill>
              </a:defRPr>
            </a:pPr>
            <a:r>
              <a:t>Chapter 26 String algorithms This chapter deals with efﬁcient algorithms for string processing. Many string problems can</a:t>
            </a:r>
          </a:p>
        </p:txBody>
      </p:sp>
      <p:sp>
        <p:nvSpPr>
          <p:cNvPr id="8" name="TextBox 7"/>
          <p:cNvSpPr txBox="1"/>
          <p:nvPr/>
        </p:nvSpPr>
        <p:spPr>
          <a:xfrm>
            <a:off x="731520" y="2011680"/>
            <a:ext cx="10698480" cy="2377440"/>
          </a:xfrm>
          <a:prstGeom prst="rect">
            <a:avLst/>
          </a:prstGeom>
          <a:noFill/>
        </p:spPr>
        <p:txBody>
          <a:bodyPr wrap="square">
            <a:spAutoFit/>
          </a:bodyPr>
          <a:lstStyle/>
          <a:p>
            <a:pPr>
              <a:spcAft>
                <a:spcPts val="1000"/>
              </a:spcAft>
              <a:defRPr sz="2000">
                <a:solidFill>
                  <a:srgbClr val="1E293B"/>
                </a:solidFill>
              </a:defRPr>
            </a:pPr>
            <a:r>
              <a:t>•  Chapter 26 String algorithms This chapter deals with efﬁcient algorithms for string processing. Many string pr</a:t>
            </a:r>
          </a:p>
          <a:p>
            <a:pPr>
              <a:spcAft>
                <a:spcPts val="1000"/>
              </a:spcAft>
              <a:defRPr sz="2000">
                <a:solidFill>
                  <a:srgbClr val="1E293B"/>
                </a:solidFill>
              </a:defRPr>
            </a:pPr>
            <a:r>
              <a:t>•  Phân tích cơ chế và điều kiện áp dụng của khái niệm.</a:t>
            </a:r>
          </a:p>
          <a:p>
            <a:pPr>
              <a:spcAft>
                <a:spcPts val="1000"/>
              </a:spcAft>
              <a:defRPr sz="2000">
                <a:solidFill>
                  <a:srgbClr val="1E293B"/>
                </a:solidFill>
              </a:defRPr>
            </a:pPr>
            <a:r>
              <a:t>•  Liên hệ với ứng dụng thực tế trong tài liệu.</a:t>
            </a:r>
          </a:p>
        </p:txBody>
      </p:sp>
      <p:sp>
        <p:nvSpPr>
          <p:cNvPr id="9" name="TextBox 8"/>
          <p:cNvSpPr txBox="1"/>
          <p:nvPr/>
        </p:nvSpPr>
        <p:spPr>
          <a:xfrm>
            <a:off x="731520" y="3749040"/>
            <a:ext cx="10698480" cy="822960"/>
          </a:xfrm>
          <a:prstGeom prst="rect">
            <a:avLst/>
          </a:prstGeom>
          <a:noFill/>
        </p:spPr>
        <p:txBody>
          <a:bodyPr wrap="square">
            <a:sp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