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Giới thiệu về Python cho Trí tuệ Nhân tạo Chương này giới thiệu các kiến thức lập trình cơ bản cần thiết cho các dự án Trí tuệ Nhân tạo (AI), sử dụng Python làm ngôn ngữchính. Chúng ta sẽtìm hiểu các khái niệm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Học có giám sát – Supervised Learning 2.1 Giới thiệu Học có giám sát (Supervised Learning) là một nhánh quan trọng trong học máy (Machine Learning). Ý tưởng cơ bản là: từ một tập dữ liệu đã biết đầu vào (featur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 3.5 Phân Cụm Phân Cấp (Hierarchical Clustering) 28 3.5.1 Giới thiệu 28 3.5.2 Cách Thuật Toán Hoạt Động 28 3.5.3 Ví dụ Minh Họa 29 3.5.4 Ứng Dụng Thực Tiễn 30 4 Đánh Giá Trong Trí Tuệ Nhân Tạo - Evaluation 31 4.1 Các 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Giới thiệu về Python cho Trí tuệ Nhân tạo print(i) Đoạn mã trên sẽin ra các sốtừ0 đến 4. Lưu ý hàm range(N) trong Python tạo ra dãy sốlên đến N-1, khác với C++ , bạn dùng điều kiện i &lt; N. Bài tập thực hành: Viế</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Học có giám sát – Supervised Learning Mục tiêu là tìm w, b đểsai sốnhỏnhất. Sửdụng hàm mất mát bình phương: L = 1 n n ∑ i=1 (yi −ˆyi)2 from sklearn.linear_model import Linear Regression model = Linear Regressio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Neural Networks 5.1 Kiến thức cơ bản về Perceptron Lý thuyết Perceptron là dạng đơn giản nhất của mạng nơ-ron. Nó là một bộphân loại nhịphân tuyến tính, nhận nhiều đầu vào, áp dụng trọng sốvà độlệch, sau đó tru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Computer Vision 4. Một sốứng dụng thực tế • Nhận dạng chữviết tay (ví dụ: số CMND, biển sốxe) • Phân loại động vật (mèo, chó, ngựa) • Hệthống giám sát an ninh 5. Các khái niệm quan trọng cần nhớ • Epoch: Sốlần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Lan truyền ngược (Backpropagation) Tóm tắt • Cho phép huấn luyện mạng nơ-ron sâu. • Sửdụng quy tắc chuỗi đểtính gradient. • Được triển khai trong các thư viện hiện đại (vd: Py Torch, Tensor Flow). 43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defRPr sz="3200" b="1">
                <a:solidFill>
                  <a:srgbClr val="1E3A8A"/>
                </a:solidFill>
              </a:defRPr>
            </a:pPr>
            <a:r>
              <a:t>1. Chapter 1 giới thiệu về python cho trí</a:t>
            </a:r>
          </a:p>
        </p:txBody>
      </p:sp>
      <p:sp>
        <p:nvSpPr>
          <p:cNvPr id="3" name="TextBox 2"/>
          <p:cNvSpPr txBox="1"/>
          <p:nvPr/>
        </p:nvSpPr>
        <p:spPr>
          <a:xfrm>
            <a:off x="731520" y="1280160"/>
            <a:ext cx="10698480" cy="548640"/>
          </a:xfrm>
          <a:prstGeom prst="rect">
            <a:avLst/>
          </a:prstGeom>
          <a:noFill/>
        </p:spPr>
        <p:txBody>
          <a:bodyPr wrap="square">
            <a:spAutoFit/>
          </a:bodyPr>
          <a:lstStyle/>
          <a:p>
            <a:pPr>
              <a:defRPr sz="1800" b="1">
                <a:solidFill>
                  <a:srgbClr val="2563EB"/>
                </a:solidFill>
              </a:defRPr>
            </a:pPr>
            <a:r>
              <a:t>Chapter 1 Giới thiệu về Python cho Trí tuệ Nhân tạo Chương này giới thiệu các kiến thức lập trình cơ bản cần thiết cho c</a:t>
            </a:r>
          </a:p>
        </p:txBody>
      </p:sp>
      <p:sp>
        <p:nvSpPr>
          <p:cNvPr id="4" name="TextBox 3"/>
          <p:cNvSpPr txBox="1"/>
          <p:nvPr/>
        </p:nvSpPr>
        <p:spPr>
          <a:xfrm>
            <a:off x="731520" y="1920239"/>
            <a:ext cx="10698480" cy="3931920"/>
          </a:xfrm>
          <a:prstGeom prst="rect">
            <a:avLst/>
          </a:prstGeom>
          <a:noFill/>
        </p:spPr>
        <p:txBody>
          <a:bodyPr wrap="square">
            <a:spAutoFit/>
          </a:bodyPr>
          <a:lstStyle/>
          <a:p>
            <a:pPr>
              <a:spcAft>
                <a:spcPts val="1200"/>
              </a:spcAft>
              <a:defRPr sz="2200">
                <a:solidFill>
                  <a:srgbClr val="334155"/>
                </a:solidFill>
              </a:defRPr>
            </a:pPr>
            <a:r>
              <a:t>•  Chapter 1 Giới thiệu về Python cho Trí tuệ Nhân tạo Chương này giới thiệu các kiến thức lập trình cơ bản cần thiết cho c</a:t>
            </a:r>
          </a:p>
          <a:p>
            <a:pPr>
              <a:spcAft>
                <a:spcPts val="1200"/>
              </a:spcAft>
              <a:defRPr sz="2200">
                <a:solidFill>
                  <a:srgbClr val="334155"/>
                </a:solidFill>
              </a:defRPr>
            </a:pPr>
            <a:r>
              <a:t>•  Phân tích cơ chế hoạt động và điều kiện áp dụng.</a:t>
            </a:r>
          </a:p>
          <a:p>
            <a:pPr>
              <a:spcAft>
                <a:spcPts val="1200"/>
              </a:spcAft>
              <a:defRPr sz="2200">
                <a:solidFill>
                  <a:srgbClr val="334155"/>
                </a:solidFill>
              </a:defRPr>
            </a:pPr>
            <a:r>
              <a:t>•  Liên hệ khái niệm với tình huống và ví dụ cụ thể.</a:t>
            </a:r>
          </a:p>
        </p:txBody>
      </p:sp>
      <p:sp>
        <p:nvSpPr>
          <p:cNvPr id="5" name="TextBox 4"/>
          <p:cNvSpPr txBox="1"/>
          <p:nvPr/>
        </p:nvSpPr>
        <p:spPr>
          <a:xfrm>
            <a:off x="731520" y="6217920"/>
            <a:ext cx="10698480" cy="365760"/>
          </a:xfrm>
          <a:prstGeom prst="rect">
            <a:avLst/>
          </a:prstGeom>
          <a:noFill/>
        </p:spPr>
        <p:txBody>
          <a:bodyPr wrap="none">
            <a:spAutoFit/>
          </a:bodyPr>
          <a:lstStyle/>
          <a:p>
            <a:pPr>
              <a:defRPr sz="1300">
                <a:solidFill>
                  <a:srgbClr val="64748B"/>
                </a:solidFill>
              </a:defRPr>
            </a:pPr>
            <a:r>
              <a:t>Bài giảng: tổng quan kiến thức | 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defRPr sz="3200" b="1">
                <a:solidFill>
                  <a:srgbClr val="1E3A8A"/>
                </a:solidFill>
              </a:defRPr>
            </a:pPr>
            <a:r>
              <a:t>2. Chapter 2 học có giám sát supervised learning</a:t>
            </a:r>
          </a:p>
        </p:txBody>
      </p:sp>
      <p:sp>
        <p:nvSpPr>
          <p:cNvPr id="3" name="TextBox 2"/>
          <p:cNvSpPr txBox="1"/>
          <p:nvPr/>
        </p:nvSpPr>
        <p:spPr>
          <a:xfrm>
            <a:off x="731520" y="1280160"/>
            <a:ext cx="10698480" cy="548640"/>
          </a:xfrm>
          <a:prstGeom prst="rect">
            <a:avLst/>
          </a:prstGeom>
          <a:noFill/>
        </p:spPr>
        <p:txBody>
          <a:bodyPr wrap="square">
            <a:spAutoFit/>
          </a:bodyPr>
          <a:lstStyle/>
          <a:p>
            <a:pPr>
              <a:defRPr sz="1800" b="1">
                <a:solidFill>
                  <a:srgbClr val="2563EB"/>
                </a:solidFill>
              </a:defRPr>
            </a:pPr>
            <a:r>
              <a:t>Chapter 2 Học có giám sát – Supervised Learning 2.1 Giới thiệu Học có giám sát (Supervised Learning) là một nhánh quan t</a:t>
            </a:r>
          </a:p>
        </p:txBody>
      </p:sp>
      <p:sp>
        <p:nvSpPr>
          <p:cNvPr id="4" name="TextBox 3"/>
          <p:cNvSpPr txBox="1"/>
          <p:nvPr/>
        </p:nvSpPr>
        <p:spPr>
          <a:xfrm>
            <a:off x="731520" y="1920239"/>
            <a:ext cx="10698480" cy="3931920"/>
          </a:xfrm>
          <a:prstGeom prst="rect">
            <a:avLst/>
          </a:prstGeom>
          <a:noFill/>
        </p:spPr>
        <p:txBody>
          <a:bodyPr wrap="square">
            <a:spAutoFit/>
          </a:bodyPr>
          <a:lstStyle/>
          <a:p>
            <a:pPr>
              <a:spcAft>
                <a:spcPts val="1200"/>
              </a:spcAft>
              <a:defRPr sz="2200">
                <a:solidFill>
                  <a:srgbClr val="334155"/>
                </a:solidFill>
              </a:defRPr>
            </a:pPr>
            <a:r>
              <a:t>•  Chapter 2 Học có giám sát – Supervised Learning 2.1 Giới thiệu Học có giám sát (Supervised Learning) là một nhánh quan t</a:t>
            </a:r>
          </a:p>
          <a:p>
            <a:pPr>
              <a:spcAft>
                <a:spcPts val="1200"/>
              </a:spcAft>
              <a:defRPr sz="2200">
                <a:solidFill>
                  <a:srgbClr val="334155"/>
                </a:solidFill>
              </a:defRPr>
            </a:pPr>
            <a:r>
              <a:t>•  Phân tích cơ chế hoạt động và điều kiện áp dụng.</a:t>
            </a:r>
          </a:p>
          <a:p>
            <a:pPr>
              <a:spcAft>
                <a:spcPts val="1200"/>
              </a:spcAft>
              <a:defRPr sz="2200">
                <a:solidFill>
                  <a:srgbClr val="334155"/>
                </a:solidFill>
              </a:defRPr>
            </a:pPr>
            <a:r>
              <a:t>•  Liên hệ khái niệm với tình huống và ví dụ cụ thể.</a:t>
            </a:r>
          </a:p>
        </p:txBody>
      </p:sp>
      <p:sp>
        <p:nvSpPr>
          <p:cNvPr id="5" name="TextBox 4"/>
          <p:cNvSpPr txBox="1"/>
          <p:nvPr/>
        </p:nvSpPr>
        <p:spPr>
          <a:xfrm>
            <a:off x="731520" y="6217920"/>
            <a:ext cx="10698480" cy="365760"/>
          </a:xfrm>
          <a:prstGeom prst="rect">
            <a:avLst/>
          </a:prstGeom>
          <a:noFill/>
        </p:spPr>
        <p:txBody>
          <a:bodyPr wrap="none">
            <a:spAutoFit/>
          </a:bodyPr>
          <a:lstStyle/>
          <a:p>
            <a:pPr>
              <a:defRPr sz="1300">
                <a:solidFill>
                  <a:srgbClr val="64748B"/>
                </a:solidFill>
              </a:defRPr>
            </a:pPr>
            <a:r>
              <a:t>Bài giảng: tổng quan kiến thức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defRPr sz="3200" b="1">
                <a:solidFill>
                  <a:srgbClr val="1E3A8A"/>
                </a:solidFill>
              </a:defRPr>
            </a:pPr>
            <a:r>
              <a:t>3. 27 3 5 phân cụm phân cấp hierarchical</a:t>
            </a:r>
          </a:p>
        </p:txBody>
      </p:sp>
      <p:sp>
        <p:nvSpPr>
          <p:cNvPr id="3" name="TextBox 2"/>
          <p:cNvSpPr txBox="1"/>
          <p:nvPr/>
        </p:nvSpPr>
        <p:spPr>
          <a:xfrm>
            <a:off x="731520" y="1280160"/>
            <a:ext cx="10698480" cy="548640"/>
          </a:xfrm>
          <a:prstGeom prst="rect">
            <a:avLst/>
          </a:prstGeom>
          <a:noFill/>
        </p:spPr>
        <p:txBody>
          <a:bodyPr wrap="square">
            <a:spAutoFit/>
          </a:bodyPr>
          <a:lstStyle/>
          <a:p>
            <a:pPr>
              <a:defRPr sz="1800" b="1">
                <a:solidFill>
                  <a:srgbClr val="2563EB"/>
                </a:solidFill>
              </a:defRPr>
            </a:pPr>
            <a:r>
              <a:t>27 3.5 Phân Cụm Phân Cấp (Hierarchical Clustering) 28 3.5.1 Giới thiệu 28 3.5.2 Cách Thuật Toán Hoạt Động 28 3.5.3 Ví dụ</a:t>
            </a:r>
          </a:p>
        </p:txBody>
      </p:sp>
      <p:sp>
        <p:nvSpPr>
          <p:cNvPr id="4" name="TextBox 3"/>
          <p:cNvSpPr txBox="1"/>
          <p:nvPr/>
        </p:nvSpPr>
        <p:spPr>
          <a:xfrm>
            <a:off x="731520" y="1920239"/>
            <a:ext cx="10698480" cy="3931920"/>
          </a:xfrm>
          <a:prstGeom prst="rect">
            <a:avLst/>
          </a:prstGeom>
          <a:noFill/>
        </p:spPr>
        <p:txBody>
          <a:bodyPr wrap="square">
            <a:spAutoFit/>
          </a:bodyPr>
          <a:lstStyle/>
          <a:p>
            <a:pPr>
              <a:spcAft>
                <a:spcPts val="1200"/>
              </a:spcAft>
              <a:defRPr sz="2200">
                <a:solidFill>
                  <a:srgbClr val="334155"/>
                </a:solidFill>
              </a:defRPr>
            </a:pPr>
            <a:r>
              <a:t>•  27 3.5 Phân Cụm Phân Cấp (Hierarchical Clustering) 28 3.5.1 Giới thiệu 28 3.5.2 Cách Thuật Toán Hoạt Động 28 3.5.3 Ví dụ</a:t>
            </a:r>
          </a:p>
          <a:p>
            <a:pPr>
              <a:spcAft>
                <a:spcPts val="1200"/>
              </a:spcAft>
              <a:defRPr sz="2200">
                <a:solidFill>
                  <a:srgbClr val="334155"/>
                </a:solidFill>
              </a:defRPr>
            </a:pPr>
            <a:r>
              <a:t>•  Phân tích cơ chế hoạt động và điều kiện áp dụng.</a:t>
            </a:r>
          </a:p>
          <a:p>
            <a:pPr>
              <a:spcAft>
                <a:spcPts val="1200"/>
              </a:spcAft>
              <a:defRPr sz="2200">
                <a:solidFill>
                  <a:srgbClr val="334155"/>
                </a:solidFill>
              </a:defRPr>
            </a:pPr>
            <a:r>
              <a:t>•  Liên hệ khái niệm với tình huống và ví dụ cụ thể.</a:t>
            </a:r>
          </a:p>
        </p:txBody>
      </p:sp>
      <p:sp>
        <p:nvSpPr>
          <p:cNvPr id="5" name="TextBox 4"/>
          <p:cNvSpPr txBox="1"/>
          <p:nvPr/>
        </p:nvSpPr>
        <p:spPr>
          <a:xfrm>
            <a:off x="731520" y="6217920"/>
            <a:ext cx="10698480" cy="365760"/>
          </a:xfrm>
          <a:prstGeom prst="rect">
            <a:avLst/>
          </a:prstGeom>
          <a:noFill/>
        </p:spPr>
        <p:txBody>
          <a:bodyPr wrap="none">
            <a:spAutoFit/>
          </a:bodyPr>
          <a:lstStyle/>
          <a:p>
            <a:pPr>
              <a:defRPr sz="1300">
                <a:solidFill>
                  <a:srgbClr val="64748B"/>
                </a:solidFill>
              </a:defRPr>
            </a:pPr>
            <a:r>
              <a:t>Bài giảng: tổng quan kiến thức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defRPr sz="3200" b="1">
                <a:solidFill>
                  <a:srgbClr val="1E3A8A"/>
                </a:solidFill>
              </a:defRPr>
            </a:pPr>
            <a:r>
              <a:t>4. Chapter 1 giới thiệu về python cho trí</a:t>
            </a:r>
          </a:p>
        </p:txBody>
      </p:sp>
      <p:sp>
        <p:nvSpPr>
          <p:cNvPr id="3" name="TextBox 2"/>
          <p:cNvSpPr txBox="1"/>
          <p:nvPr/>
        </p:nvSpPr>
        <p:spPr>
          <a:xfrm>
            <a:off x="731520" y="1280160"/>
            <a:ext cx="10698480" cy="548640"/>
          </a:xfrm>
          <a:prstGeom prst="rect">
            <a:avLst/>
          </a:prstGeom>
          <a:noFill/>
        </p:spPr>
        <p:txBody>
          <a:bodyPr wrap="square">
            <a:spAutoFit/>
          </a:bodyPr>
          <a:lstStyle/>
          <a:p>
            <a:pPr>
              <a:defRPr sz="1800" b="1">
                <a:solidFill>
                  <a:srgbClr val="2563EB"/>
                </a:solidFill>
              </a:defRPr>
            </a:pPr>
            <a:r>
              <a:t>Chapter 1 Giới thiệu về Python cho Trí tuệ Nhân tạo print(i) Đoạn mã trên sẽin ra các sốtừ0 đến 4.</a:t>
            </a:r>
          </a:p>
        </p:txBody>
      </p:sp>
      <p:sp>
        <p:nvSpPr>
          <p:cNvPr id="4" name="TextBox 3"/>
          <p:cNvSpPr txBox="1"/>
          <p:nvPr/>
        </p:nvSpPr>
        <p:spPr>
          <a:xfrm>
            <a:off x="731520" y="1920239"/>
            <a:ext cx="10698480" cy="3931920"/>
          </a:xfrm>
          <a:prstGeom prst="rect">
            <a:avLst/>
          </a:prstGeom>
          <a:noFill/>
        </p:spPr>
        <p:txBody>
          <a:bodyPr wrap="square">
            <a:spAutoFit/>
          </a:bodyPr>
          <a:lstStyle/>
          <a:p>
            <a:pPr>
              <a:spcAft>
                <a:spcPts val="1200"/>
              </a:spcAft>
              <a:defRPr sz="2200">
                <a:solidFill>
                  <a:srgbClr val="334155"/>
                </a:solidFill>
              </a:defRPr>
            </a:pPr>
            <a:r>
              <a:t>•  Chapter 1 Giới thiệu về Python cho Trí tuệ Nhân tạo print(i) Đoạn mã trên sẽin ra các sốtừ0 đến 4.</a:t>
            </a:r>
          </a:p>
          <a:p>
            <a:pPr>
              <a:spcAft>
                <a:spcPts val="1200"/>
              </a:spcAft>
              <a:defRPr sz="2200">
                <a:solidFill>
                  <a:srgbClr val="334155"/>
                </a:solidFill>
              </a:defRPr>
            </a:pPr>
            <a:r>
              <a:t>•  Phân tích cơ chế hoạt động và điều kiện áp dụng.</a:t>
            </a:r>
          </a:p>
          <a:p>
            <a:pPr>
              <a:spcAft>
                <a:spcPts val="1200"/>
              </a:spcAft>
              <a:defRPr sz="2200">
                <a:solidFill>
                  <a:srgbClr val="334155"/>
                </a:solidFill>
              </a:defRPr>
            </a:pPr>
            <a:r>
              <a:t>•  Liên hệ khái niệm với tình huống và ví dụ cụ thể.</a:t>
            </a:r>
          </a:p>
        </p:txBody>
      </p:sp>
      <p:sp>
        <p:nvSpPr>
          <p:cNvPr id="5" name="TextBox 4"/>
          <p:cNvSpPr txBox="1"/>
          <p:nvPr/>
        </p:nvSpPr>
        <p:spPr>
          <a:xfrm>
            <a:off x="731520" y="6217920"/>
            <a:ext cx="10698480" cy="365760"/>
          </a:xfrm>
          <a:prstGeom prst="rect">
            <a:avLst/>
          </a:prstGeom>
          <a:noFill/>
        </p:spPr>
        <p:txBody>
          <a:bodyPr wrap="none">
            <a:spAutoFit/>
          </a:bodyPr>
          <a:lstStyle/>
          <a:p>
            <a:pPr>
              <a:defRPr sz="1300">
                <a:solidFill>
                  <a:srgbClr val="64748B"/>
                </a:solidFill>
              </a:defRPr>
            </a:pPr>
            <a:r>
              <a:t>Bài giảng: tổng quan kiến thức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defRPr sz="3200" b="1">
                <a:solidFill>
                  <a:srgbClr val="1E3A8A"/>
                </a:solidFill>
              </a:defRPr>
            </a:pPr>
            <a:r>
              <a:t>5. Chapter 2 học có giám sát supervised learning</a:t>
            </a:r>
          </a:p>
        </p:txBody>
      </p:sp>
      <p:sp>
        <p:nvSpPr>
          <p:cNvPr id="3" name="TextBox 2"/>
          <p:cNvSpPr txBox="1"/>
          <p:nvPr/>
        </p:nvSpPr>
        <p:spPr>
          <a:xfrm>
            <a:off x="731520" y="1280160"/>
            <a:ext cx="10698480" cy="548640"/>
          </a:xfrm>
          <a:prstGeom prst="rect">
            <a:avLst/>
          </a:prstGeom>
          <a:noFill/>
        </p:spPr>
        <p:txBody>
          <a:bodyPr wrap="square">
            <a:spAutoFit/>
          </a:bodyPr>
          <a:lstStyle/>
          <a:p>
            <a:pPr>
              <a:defRPr sz="1800" b="1">
                <a:solidFill>
                  <a:srgbClr val="2563EB"/>
                </a:solidFill>
              </a:defRPr>
            </a:pPr>
            <a:r>
              <a:t>Chapter 2 Học có giám sát – Supervised Learning Mục tiêu là tìm w, b đểsai sốnhỏnhất.</a:t>
            </a:r>
          </a:p>
        </p:txBody>
      </p:sp>
      <p:sp>
        <p:nvSpPr>
          <p:cNvPr id="4" name="TextBox 3"/>
          <p:cNvSpPr txBox="1"/>
          <p:nvPr/>
        </p:nvSpPr>
        <p:spPr>
          <a:xfrm>
            <a:off x="731520" y="1920239"/>
            <a:ext cx="10698480" cy="3931920"/>
          </a:xfrm>
          <a:prstGeom prst="rect">
            <a:avLst/>
          </a:prstGeom>
          <a:noFill/>
        </p:spPr>
        <p:txBody>
          <a:bodyPr wrap="square">
            <a:spAutoFit/>
          </a:bodyPr>
          <a:lstStyle/>
          <a:p>
            <a:pPr>
              <a:spcAft>
                <a:spcPts val="1200"/>
              </a:spcAft>
              <a:defRPr sz="2200">
                <a:solidFill>
                  <a:srgbClr val="334155"/>
                </a:solidFill>
              </a:defRPr>
            </a:pPr>
            <a:r>
              <a:t>•  Chapter 2 Học có giám sát – Supervised Learning Mục tiêu là tìm w, b đểsai sốnhỏnhất.</a:t>
            </a:r>
          </a:p>
          <a:p>
            <a:pPr>
              <a:spcAft>
                <a:spcPts val="1200"/>
              </a:spcAft>
              <a:defRPr sz="2200">
                <a:solidFill>
                  <a:srgbClr val="334155"/>
                </a:solidFill>
              </a:defRPr>
            </a:pPr>
            <a:r>
              <a:t>•  Phân tích cơ chế hoạt động và điều kiện áp dụng.</a:t>
            </a:r>
          </a:p>
          <a:p>
            <a:pPr>
              <a:spcAft>
                <a:spcPts val="1200"/>
              </a:spcAft>
              <a:defRPr sz="2200">
                <a:solidFill>
                  <a:srgbClr val="334155"/>
                </a:solidFill>
              </a:defRPr>
            </a:pPr>
            <a:r>
              <a:t>•  Liên hệ khái niệm với tình huống và ví dụ cụ thể.</a:t>
            </a:r>
          </a:p>
        </p:txBody>
      </p:sp>
      <p:sp>
        <p:nvSpPr>
          <p:cNvPr id="5" name="TextBox 4"/>
          <p:cNvSpPr txBox="1"/>
          <p:nvPr/>
        </p:nvSpPr>
        <p:spPr>
          <a:xfrm>
            <a:off x="731520" y="6217920"/>
            <a:ext cx="10698480" cy="365760"/>
          </a:xfrm>
          <a:prstGeom prst="rect">
            <a:avLst/>
          </a:prstGeom>
          <a:noFill/>
        </p:spPr>
        <p:txBody>
          <a:bodyPr wrap="none">
            <a:spAutoFit/>
          </a:bodyPr>
          <a:lstStyle/>
          <a:p>
            <a:pPr>
              <a:defRPr sz="1300">
                <a:solidFill>
                  <a:srgbClr val="64748B"/>
                </a:solidFill>
              </a:defRPr>
            </a:pPr>
            <a:r>
              <a:t>Bài giảng: tổng quan kiến thức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defRPr sz="3200" b="1">
                <a:solidFill>
                  <a:srgbClr val="1E3A8A"/>
                </a:solidFill>
              </a:defRPr>
            </a:pPr>
            <a:r>
              <a:t>6. Chapter 5 neural networks 5 1 kiến thức</a:t>
            </a:r>
          </a:p>
        </p:txBody>
      </p:sp>
      <p:sp>
        <p:nvSpPr>
          <p:cNvPr id="3" name="TextBox 2"/>
          <p:cNvSpPr txBox="1"/>
          <p:nvPr/>
        </p:nvSpPr>
        <p:spPr>
          <a:xfrm>
            <a:off x="731520" y="1280160"/>
            <a:ext cx="10698480" cy="548640"/>
          </a:xfrm>
          <a:prstGeom prst="rect">
            <a:avLst/>
          </a:prstGeom>
          <a:noFill/>
        </p:spPr>
        <p:txBody>
          <a:bodyPr wrap="square">
            <a:spAutoFit/>
          </a:bodyPr>
          <a:lstStyle/>
          <a:p>
            <a:pPr>
              <a:defRPr sz="1800" b="1">
                <a:solidFill>
                  <a:srgbClr val="2563EB"/>
                </a:solidFill>
              </a:defRPr>
            </a:pPr>
            <a:r>
              <a:t>Chapter 5 Neural Networks 5.1 Kiến thức cơ bản về Perceptron Lý thuyết Perceptron là dạng đơn giản nhất của mạng nơ-ron.</a:t>
            </a:r>
          </a:p>
        </p:txBody>
      </p:sp>
      <p:sp>
        <p:nvSpPr>
          <p:cNvPr id="4" name="TextBox 3"/>
          <p:cNvSpPr txBox="1"/>
          <p:nvPr/>
        </p:nvSpPr>
        <p:spPr>
          <a:xfrm>
            <a:off x="731520" y="1920239"/>
            <a:ext cx="10698480" cy="3931920"/>
          </a:xfrm>
          <a:prstGeom prst="rect">
            <a:avLst/>
          </a:prstGeom>
          <a:noFill/>
        </p:spPr>
        <p:txBody>
          <a:bodyPr wrap="square">
            <a:spAutoFit/>
          </a:bodyPr>
          <a:lstStyle/>
          <a:p>
            <a:pPr>
              <a:spcAft>
                <a:spcPts val="1200"/>
              </a:spcAft>
              <a:defRPr sz="2200">
                <a:solidFill>
                  <a:srgbClr val="334155"/>
                </a:solidFill>
              </a:defRPr>
            </a:pPr>
            <a:r>
              <a:t>•  Chapter 5 Neural Networks 5.1 Kiến thức cơ bản về Perceptron Lý thuyết Perceptron là dạng đơn giản nhất của mạng nơ-ron.</a:t>
            </a:r>
          </a:p>
          <a:p>
            <a:pPr>
              <a:spcAft>
                <a:spcPts val="1200"/>
              </a:spcAft>
              <a:defRPr sz="2200">
                <a:solidFill>
                  <a:srgbClr val="334155"/>
                </a:solidFill>
              </a:defRPr>
            </a:pPr>
            <a:r>
              <a:t>•  Phân tích cơ chế hoạt động và điều kiện áp dụng.</a:t>
            </a:r>
          </a:p>
          <a:p>
            <a:pPr>
              <a:spcAft>
                <a:spcPts val="1200"/>
              </a:spcAft>
              <a:defRPr sz="2200">
                <a:solidFill>
                  <a:srgbClr val="334155"/>
                </a:solidFill>
              </a:defRPr>
            </a:pPr>
            <a:r>
              <a:t>•  Liên hệ khái niệm với tình huống và ví dụ cụ thể.</a:t>
            </a:r>
          </a:p>
        </p:txBody>
      </p:sp>
      <p:sp>
        <p:nvSpPr>
          <p:cNvPr id="5" name="TextBox 4"/>
          <p:cNvSpPr txBox="1"/>
          <p:nvPr/>
        </p:nvSpPr>
        <p:spPr>
          <a:xfrm>
            <a:off x="731520" y="6217920"/>
            <a:ext cx="10698480" cy="365760"/>
          </a:xfrm>
          <a:prstGeom prst="rect">
            <a:avLst/>
          </a:prstGeom>
          <a:noFill/>
        </p:spPr>
        <p:txBody>
          <a:bodyPr wrap="none">
            <a:spAutoFit/>
          </a:bodyPr>
          <a:lstStyle/>
          <a:p>
            <a:pPr>
              <a:defRPr sz="1300">
                <a:solidFill>
                  <a:srgbClr val="64748B"/>
                </a:solidFill>
              </a:defRPr>
            </a:pPr>
            <a:r>
              <a:t>Bài giảng: tổng quan kiến thức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defRPr sz="3200" b="1">
                <a:solidFill>
                  <a:srgbClr val="1E3A8A"/>
                </a:solidFill>
              </a:defRPr>
            </a:pPr>
            <a:r>
              <a:t>7. Chapter 8 computer vision 4 một sốứng dụng</a:t>
            </a:r>
          </a:p>
        </p:txBody>
      </p:sp>
      <p:sp>
        <p:nvSpPr>
          <p:cNvPr id="3" name="TextBox 2"/>
          <p:cNvSpPr txBox="1"/>
          <p:nvPr/>
        </p:nvSpPr>
        <p:spPr>
          <a:xfrm>
            <a:off x="731520" y="1280160"/>
            <a:ext cx="10698480" cy="548640"/>
          </a:xfrm>
          <a:prstGeom prst="rect">
            <a:avLst/>
          </a:prstGeom>
          <a:noFill/>
        </p:spPr>
        <p:txBody>
          <a:bodyPr wrap="square">
            <a:spAutoFit/>
          </a:bodyPr>
          <a:lstStyle/>
          <a:p>
            <a:pPr>
              <a:defRPr sz="1800" b="1">
                <a:solidFill>
                  <a:srgbClr val="2563EB"/>
                </a:solidFill>
              </a:defRPr>
            </a:pPr>
            <a:r>
              <a:t>Chapter 8 Computer Vision 4.</a:t>
            </a:r>
          </a:p>
        </p:txBody>
      </p:sp>
      <p:sp>
        <p:nvSpPr>
          <p:cNvPr id="4" name="TextBox 3"/>
          <p:cNvSpPr txBox="1"/>
          <p:nvPr/>
        </p:nvSpPr>
        <p:spPr>
          <a:xfrm>
            <a:off x="731520" y="1920239"/>
            <a:ext cx="10698480" cy="3931920"/>
          </a:xfrm>
          <a:prstGeom prst="rect">
            <a:avLst/>
          </a:prstGeom>
          <a:noFill/>
        </p:spPr>
        <p:txBody>
          <a:bodyPr wrap="square">
            <a:spAutoFit/>
          </a:bodyPr>
          <a:lstStyle/>
          <a:p>
            <a:pPr>
              <a:spcAft>
                <a:spcPts val="1200"/>
              </a:spcAft>
              <a:defRPr sz="2200">
                <a:solidFill>
                  <a:srgbClr val="334155"/>
                </a:solidFill>
              </a:defRPr>
            </a:pPr>
            <a:r>
              <a:t>•  Chapter 8 Computer Vision 4.</a:t>
            </a:r>
          </a:p>
          <a:p>
            <a:pPr>
              <a:spcAft>
                <a:spcPts val="1200"/>
              </a:spcAft>
              <a:defRPr sz="2200">
                <a:solidFill>
                  <a:srgbClr val="334155"/>
                </a:solidFill>
              </a:defRPr>
            </a:pPr>
            <a:r>
              <a:t>•  Phân tích cơ chế hoạt động và điều kiện áp dụng.</a:t>
            </a:r>
          </a:p>
          <a:p>
            <a:pPr>
              <a:spcAft>
                <a:spcPts val="1200"/>
              </a:spcAft>
              <a:defRPr sz="2200">
                <a:solidFill>
                  <a:srgbClr val="334155"/>
                </a:solidFill>
              </a:defRPr>
            </a:pPr>
            <a:r>
              <a:t>•  Liên hệ khái niệm với tình huống và ví dụ cụ thể.</a:t>
            </a:r>
          </a:p>
        </p:txBody>
      </p:sp>
      <p:sp>
        <p:nvSpPr>
          <p:cNvPr id="5" name="TextBox 4"/>
          <p:cNvSpPr txBox="1"/>
          <p:nvPr/>
        </p:nvSpPr>
        <p:spPr>
          <a:xfrm>
            <a:off x="731520" y="6217920"/>
            <a:ext cx="10698480" cy="365760"/>
          </a:xfrm>
          <a:prstGeom prst="rect">
            <a:avLst/>
          </a:prstGeom>
          <a:noFill/>
        </p:spPr>
        <p:txBody>
          <a:bodyPr wrap="none">
            <a:spAutoFit/>
          </a:bodyPr>
          <a:lstStyle/>
          <a:p>
            <a:pPr>
              <a:defRPr sz="1300">
                <a:solidFill>
                  <a:srgbClr val="64748B"/>
                </a:solidFill>
              </a:defRPr>
            </a:pPr>
            <a:r>
              <a:t>Bài giảng: tổng quan kiến thức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822960"/>
          </a:xfrm>
          <a:prstGeom prst="rect">
            <a:avLst/>
          </a:prstGeom>
          <a:noFill/>
        </p:spPr>
        <p:txBody>
          <a:bodyPr wrap="square">
            <a:spAutoFit/>
          </a:bodyPr>
          <a:lstStyle/>
          <a:p>
            <a:pPr>
              <a:defRPr sz="3200" b="1">
                <a:solidFill>
                  <a:srgbClr val="1E3A8A"/>
                </a:solidFill>
              </a:defRPr>
            </a:pPr>
            <a:r>
              <a:t>8. 5 3 lan truyền ngược backpropagation tóm tắt</a:t>
            </a:r>
          </a:p>
        </p:txBody>
      </p:sp>
      <p:sp>
        <p:nvSpPr>
          <p:cNvPr id="3" name="TextBox 2"/>
          <p:cNvSpPr txBox="1"/>
          <p:nvPr/>
        </p:nvSpPr>
        <p:spPr>
          <a:xfrm>
            <a:off x="731520" y="1280160"/>
            <a:ext cx="10698480" cy="548640"/>
          </a:xfrm>
          <a:prstGeom prst="rect">
            <a:avLst/>
          </a:prstGeom>
          <a:noFill/>
        </p:spPr>
        <p:txBody>
          <a:bodyPr wrap="square">
            <a:spAutoFit/>
          </a:bodyPr>
          <a:lstStyle/>
          <a:p>
            <a:pPr>
              <a:defRPr sz="1800" b="1">
                <a:solidFill>
                  <a:srgbClr val="2563EB"/>
                </a:solidFill>
              </a:defRPr>
            </a:pPr>
            <a:r>
              <a:t>5.3 Lan truyền ngược (Backpropagation) Tóm tắt • Cho phép huấn luyện mạng nơ-ron sâu.</a:t>
            </a:r>
          </a:p>
        </p:txBody>
      </p:sp>
      <p:sp>
        <p:nvSpPr>
          <p:cNvPr id="4" name="TextBox 3"/>
          <p:cNvSpPr txBox="1"/>
          <p:nvPr/>
        </p:nvSpPr>
        <p:spPr>
          <a:xfrm>
            <a:off x="731520" y="1920239"/>
            <a:ext cx="10698480" cy="3931920"/>
          </a:xfrm>
          <a:prstGeom prst="rect">
            <a:avLst/>
          </a:prstGeom>
          <a:noFill/>
        </p:spPr>
        <p:txBody>
          <a:bodyPr wrap="square">
            <a:spAutoFit/>
          </a:bodyPr>
          <a:lstStyle/>
          <a:p>
            <a:pPr>
              <a:spcAft>
                <a:spcPts val="1200"/>
              </a:spcAft>
              <a:defRPr sz="2200">
                <a:solidFill>
                  <a:srgbClr val="334155"/>
                </a:solidFill>
              </a:defRPr>
            </a:pPr>
            <a:r>
              <a:t>•  5.3 Lan truyền ngược (Backpropagation) Tóm tắt • Cho phép huấn luyện mạng nơ-ron sâu.</a:t>
            </a:r>
          </a:p>
          <a:p>
            <a:pPr>
              <a:spcAft>
                <a:spcPts val="1200"/>
              </a:spcAft>
              <a:defRPr sz="2200">
                <a:solidFill>
                  <a:srgbClr val="334155"/>
                </a:solidFill>
              </a:defRPr>
            </a:pPr>
            <a:r>
              <a:t>•  Phân tích cơ chế hoạt động và điều kiện áp dụng.</a:t>
            </a:r>
          </a:p>
          <a:p>
            <a:pPr>
              <a:spcAft>
                <a:spcPts val="1200"/>
              </a:spcAft>
              <a:defRPr sz="2200">
                <a:solidFill>
                  <a:srgbClr val="334155"/>
                </a:solidFill>
              </a:defRPr>
            </a:pPr>
            <a:r>
              <a:t>•  Liên hệ khái niệm với tình huống và ví dụ cụ thể.</a:t>
            </a:r>
          </a:p>
        </p:txBody>
      </p:sp>
      <p:sp>
        <p:nvSpPr>
          <p:cNvPr id="5" name="TextBox 4"/>
          <p:cNvSpPr txBox="1"/>
          <p:nvPr/>
        </p:nvSpPr>
        <p:spPr>
          <a:xfrm>
            <a:off x="731520" y="6217920"/>
            <a:ext cx="10698480" cy="365760"/>
          </a:xfrm>
          <a:prstGeom prst="rect">
            <a:avLst/>
          </a:prstGeom>
          <a:noFill/>
        </p:spPr>
        <p:txBody>
          <a:bodyPr wrap="none">
            <a:spAutoFit/>
          </a:bodyPr>
          <a:lstStyle/>
          <a:p>
            <a:pPr>
              <a:defRPr sz="1300">
                <a:solidFill>
                  <a:srgbClr val="64748B"/>
                </a:solidFill>
              </a:defRPr>
            </a:pPr>
            <a:r>
              <a:t>Bài giảng: tổng quan kiến thức | Slide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