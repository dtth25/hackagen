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D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68122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1827"/>
                </a:solidFill>
              </a:defRPr>
            </a:pPr>
            <a:r>
              <a:t>Giới thiệu về Trí tuệ Nhân tạo với Python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1261872"/>
            <a:ext cx="6446520" cy="347472"/>
          </a:xfrm>
          <a:prstGeom prst="roundRect">
            <a:avLst/>
          </a:prstGeom>
          <a:solidFill>
            <a:srgbClr val="ECFEFF"/>
          </a:solidFill>
          <a:ln>
            <a:solidFill>
              <a:srgbClr val="A5F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1325880"/>
            <a:ext cx="60350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4C5C"/>
                </a:solidFill>
              </a:defRPr>
            </a:pPr>
            <a:r>
              <a:t>Bắt đầu hành trình khám phá Trí tuệ Nhân tạo với Python.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755648"/>
            <a:ext cx="644652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02536"/>
            <a:ext cx="228600" cy="228600"/>
          </a:xfrm>
          <a:prstGeom prst="ellipse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98448" y="1865376"/>
            <a:ext cx="5532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700">
                <a:solidFill>
                  <a:srgbClr val="1F2937"/>
                </a:solidFill>
              </a:defRPr>
            </a:pPr>
            <a:r>
              <a:t>Khám phá nền tảng AI và Machine Learning.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33472"/>
            <a:ext cx="644652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2880360"/>
            <a:ext cx="228600" cy="228600"/>
          </a:xfrm>
          <a:prstGeom prst="ellipse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98448" y="2743200"/>
            <a:ext cx="5532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700">
                <a:solidFill>
                  <a:srgbClr val="1F2937"/>
                </a:solidFill>
              </a:defRPr>
            </a:pPr>
            <a:r>
              <a:t>Sử dụng Python làm ngôn ngữ chính.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3511296"/>
            <a:ext cx="644652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32688" y="3758183"/>
            <a:ext cx="228600" cy="228600"/>
          </a:xfrm>
          <a:prstGeom prst="ellipse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98448" y="3621024"/>
            <a:ext cx="5532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700">
                <a:solidFill>
                  <a:srgbClr val="1F2937"/>
                </a:solidFill>
              </a:defRPr>
            </a:pPr>
            <a:r>
              <a:t>Học các thư viện thiết yếu và ứng dụng thực tế.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4389120"/>
            <a:ext cx="644652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32688" y="4636008"/>
            <a:ext cx="228600" cy="228600"/>
          </a:xfrm>
          <a:prstGeom prst="ellipse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98448" y="4498848"/>
            <a:ext cx="5532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700">
                <a:solidFill>
                  <a:srgbClr val="1F2937"/>
                </a:solidFill>
              </a:defRPr>
            </a:pPr>
            <a:r>
              <a:t>Xây dựng nền tảng vững chắc cho hành trình AI.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5440680"/>
            <a:ext cx="6446520" cy="566928"/>
          </a:xfrm>
          <a:prstGeom prst="roundRect">
            <a:avLst/>
          </a:prstGeom>
          <a:solidFill>
            <a:srgbClr val="FFFBEB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5550408"/>
            <a:ext cx="60167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350F"/>
                </a:solidFill>
              </a:defRPr>
            </a:pPr>
            <a:r>
              <a:t>Slide mở đầu, giới thiệu tổng quan về khóa học/chủ đề.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26679" y="1371600"/>
            <a:ext cx="3794760" cy="4069080"/>
          </a:xfrm>
          <a:prstGeom prst="roundRect">
            <a:avLst/>
          </a:prstGeom>
          <a:solidFill>
            <a:srgbClr val="FAF5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92440" y="1828800"/>
            <a:ext cx="14173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65592" y="1938528"/>
            <a:ext cx="127101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7E22CE"/>
                </a:solidFill>
              </a:defRPr>
            </a:pPr>
            <a:r>
              <a:t>Tree / MEX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921240" y="1828800"/>
            <a:ext cx="14173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94392" y="1938528"/>
            <a:ext cx="127101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7E22CE"/>
                </a:solidFill>
              </a:defRPr>
            </a:pPr>
            <a:r>
              <a:t>Knapsack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3246120"/>
            <a:ext cx="14173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65592" y="3355848"/>
            <a:ext cx="127101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7E22CE"/>
                </a:solidFill>
              </a:defRPr>
            </a:pPr>
            <a:r>
              <a:t>Grid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21240" y="3246120"/>
            <a:ext cx="14173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94392" y="3355848"/>
            <a:ext cx="127101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7E22CE"/>
                </a:solidFill>
              </a:defRPr>
            </a:pPr>
            <a:r>
              <a:t>Modulo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23960" y="4526280"/>
            <a:ext cx="178308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97112" y="4636008"/>
            <a:ext cx="1636776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7E22CE"/>
                </a:solidFill>
              </a:defRPr>
            </a:pPr>
            <a:r>
              <a:t>Recap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0" y="5559552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Sơ đồ tư duy (mind map) với 'AI with Python' ở trung tâm, tỏa ra các nhánh chính: Machine Learning, Deep Learning, Compu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272784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Slide 1/8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D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68122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1827"/>
                </a:solidFill>
              </a:defRPr>
            </a:pPr>
            <a:r>
              <a:t>Python: Ngôn ngữ của Trí tuệ Nhân tạo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1261872"/>
            <a:ext cx="6446520" cy="347472"/>
          </a:xfrm>
          <a:prstGeom prst="roundRect">
            <a:avLst/>
          </a:prstGeom>
          <a:solidFill>
            <a:srgbClr val="ECFEFF"/>
          </a:solidFill>
          <a:ln>
            <a:solidFill>
              <a:srgbClr val="A5F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1325880"/>
            <a:ext cx="60350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4C5C"/>
                </a:solidFill>
              </a:defRPr>
            </a:pPr>
            <a:r>
              <a:t>Python đơn giản, mạnh mẽ và có hệ sinh thái AI vượt trội.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755648"/>
            <a:ext cx="644652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02536"/>
            <a:ext cx="228600" cy="228600"/>
          </a:xfrm>
          <a:prstGeom prst="ellipse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98448" y="1865376"/>
            <a:ext cx="5532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700">
                <a:solidFill>
                  <a:srgbClr val="1F2937"/>
                </a:solidFill>
              </a:defRPr>
            </a:pPr>
            <a:r>
              <a:t>Ngôn ngữ cấp cao, linh hoạt và dễ học.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33472"/>
            <a:ext cx="644652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2880360"/>
            <a:ext cx="228600" cy="228600"/>
          </a:xfrm>
          <a:prstGeom prst="ellipse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98448" y="2743200"/>
            <a:ext cx="5532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700">
                <a:solidFill>
                  <a:srgbClr val="1F2937"/>
                </a:solidFill>
              </a:defRPr>
            </a:pPr>
            <a:r>
              <a:t>Hệ sinh thái thư viện phong phú, mạnh mẽ.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3511296"/>
            <a:ext cx="644652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32688" y="3758183"/>
            <a:ext cx="228600" cy="228600"/>
          </a:xfrm>
          <a:prstGeom prst="ellipse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98448" y="3621024"/>
            <a:ext cx="5532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700">
                <a:solidFill>
                  <a:srgbClr val="1F2937"/>
                </a:solidFill>
              </a:defRPr>
            </a:pPr>
            <a:r>
              <a:t>Cộng đồng lớn, hỗ trợ phát triển nhanh chóng.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4389120"/>
            <a:ext cx="644652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32688" y="4636008"/>
            <a:ext cx="228600" cy="228600"/>
          </a:xfrm>
          <a:prstGeom prst="ellipse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98448" y="4498848"/>
            <a:ext cx="5532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700">
                <a:solidFill>
                  <a:srgbClr val="1F2937"/>
                </a:solidFill>
              </a:defRPr>
            </a:pPr>
            <a:r>
              <a:t>Tối ưu cho các dự án AI và Machine Learning.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5440680"/>
            <a:ext cx="6446520" cy="566928"/>
          </a:xfrm>
          <a:prstGeom prst="roundRect">
            <a:avLst/>
          </a:prstGeom>
          <a:solidFill>
            <a:srgbClr val="FFFBEB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5550408"/>
            <a:ext cx="60167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350F"/>
                </a:solidFill>
              </a:defRPr>
            </a:pPr>
            <a:r>
              <a:t>Nhấn mạnh lợi ích của Python trong lĩnh vực AI.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26679" y="1371600"/>
            <a:ext cx="3794760" cy="4069080"/>
          </a:xfrm>
          <a:prstGeom prst="roundRect">
            <a:avLst/>
          </a:prstGeom>
          <a:solidFill>
            <a:srgbClr val="EFF6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73568" y="1645920"/>
            <a:ext cx="3383280" cy="3429000"/>
          </a:xfrm>
          <a:prstGeom prst="roundRect">
            <a:avLst/>
          </a:prstGeom>
          <a:solidFill>
            <a:srgbClr val="0F172A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79" y="199339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for i in range(n):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265176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dp[i] = best(i)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79" y="3310128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answer = max(dp)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02752" y="4251960"/>
            <a:ext cx="269748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4" y="4361688"/>
            <a:ext cx="2551176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trace key states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5559552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Biểu đồ so sánh Python và C++ về độ dài code cho một tác vụ đơn giản (ví dụ: vòng lặp, in ra màn hình), hoặc logo Python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272784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Slide 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D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68122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1827"/>
                </a:solidFill>
              </a:defRPr>
            </a:pPr>
            <a:r>
              <a:t>Công cụ cốt lõi: NumPy, Pandas, Matplotlib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1261872"/>
            <a:ext cx="6446520" cy="347472"/>
          </a:xfrm>
          <a:prstGeom prst="roundRect">
            <a:avLst/>
          </a:prstGeom>
          <a:solidFill>
            <a:srgbClr val="ECFEFF"/>
          </a:solidFill>
          <a:ln>
            <a:solidFill>
              <a:srgbClr val="A5F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1325880"/>
            <a:ext cx="60350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4C5C"/>
                </a:solidFill>
              </a:defRPr>
            </a:pPr>
            <a:r>
              <a:t>Các thư viện này là nền tảng cho mọi dự án AI và Khoa học dữ liệu.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755648"/>
            <a:ext cx="644652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02536"/>
            <a:ext cx="228600" cy="228600"/>
          </a:xfrm>
          <a:prstGeom prst="ellipse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98448" y="1865376"/>
            <a:ext cx="5532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700">
                <a:solidFill>
                  <a:srgbClr val="1F2937"/>
                </a:solidFill>
              </a:defRPr>
            </a:pPr>
            <a:r>
              <a:t>NumPy: Xử lý mảng và tính toán số học hiệu quả.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33472"/>
            <a:ext cx="644652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2880360"/>
            <a:ext cx="228600" cy="228600"/>
          </a:xfrm>
          <a:prstGeom prst="ellipse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98448" y="2743200"/>
            <a:ext cx="5532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700">
                <a:solidFill>
                  <a:srgbClr val="1F2937"/>
                </a:solidFill>
              </a:defRPr>
            </a:pPr>
            <a:r>
              <a:t>Pandas: Thao tác và phân tích dữ liệu dạng bảng.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3511296"/>
            <a:ext cx="644652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32688" y="3758183"/>
            <a:ext cx="228600" cy="228600"/>
          </a:xfrm>
          <a:prstGeom prst="ellipse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98448" y="3621024"/>
            <a:ext cx="5532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700">
                <a:solidFill>
                  <a:srgbClr val="1F2937"/>
                </a:solidFill>
              </a:defRPr>
            </a:pPr>
            <a:r>
              <a:t>Matplotlib/Seaborn: Trực quan hóa dữ liệu mạnh mẽ.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5440680"/>
            <a:ext cx="6446520" cy="566928"/>
          </a:xfrm>
          <a:prstGeom prst="roundRect">
            <a:avLst/>
          </a:prstGeom>
          <a:solidFill>
            <a:srgbClr val="FFFBEB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550408"/>
            <a:ext cx="60167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350F"/>
                </a:solidFill>
              </a:defRPr>
            </a:pPr>
            <a:r>
              <a:t>Giới thiệu các thư viện cơ bản nhất mà mọi người làm AI đều cần.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6679" y="1371600"/>
            <a:ext cx="3794760" cy="4069080"/>
          </a:xfrm>
          <a:prstGeom prst="roundRect">
            <a:avLst/>
          </a:prstGeom>
          <a:solidFill>
            <a:srgbClr val="EEF2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79" y="1783080"/>
            <a:ext cx="411480" cy="411480"/>
          </a:xfrm>
          <a:prstGeom prst="rect">
            <a:avLst/>
          </a:prstGeom>
          <a:solidFill>
            <a:srgbClr val="1F293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95359" y="1783080"/>
            <a:ext cx="4114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06840" y="1783080"/>
            <a:ext cx="4114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418319" y="1783080"/>
            <a:ext cx="411480" cy="411480"/>
          </a:xfrm>
          <a:prstGeom prst="rect">
            <a:avLst/>
          </a:prstGeom>
          <a:solidFill>
            <a:srgbClr val="1F293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829800" y="1783080"/>
            <a:ext cx="4114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241280" y="1783080"/>
            <a:ext cx="4114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83879" y="2194560"/>
            <a:ext cx="4114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95359" y="2194560"/>
            <a:ext cx="4114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06840" y="2194560"/>
            <a:ext cx="411480" cy="411480"/>
          </a:xfrm>
          <a:prstGeom prst="rect">
            <a:avLst/>
          </a:prstGeom>
          <a:solidFill>
            <a:srgbClr val="1F293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418319" y="2194560"/>
            <a:ext cx="4114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829800" y="2194560"/>
            <a:ext cx="4114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241280" y="2194560"/>
            <a:ext cx="411480" cy="411480"/>
          </a:xfrm>
          <a:prstGeom prst="rect">
            <a:avLst/>
          </a:prstGeom>
          <a:solidFill>
            <a:srgbClr val="1F293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83879" y="2606040"/>
            <a:ext cx="4114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95359" y="2606040"/>
            <a:ext cx="411480" cy="411480"/>
          </a:xfrm>
          <a:prstGeom prst="rect">
            <a:avLst/>
          </a:prstGeom>
          <a:solidFill>
            <a:srgbClr val="1F293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06840" y="2606040"/>
            <a:ext cx="4114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418319" y="2606040"/>
            <a:ext cx="4114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829800" y="2606040"/>
            <a:ext cx="411480" cy="411480"/>
          </a:xfrm>
          <a:prstGeom prst="rect">
            <a:avLst/>
          </a:prstGeom>
          <a:solidFill>
            <a:srgbClr val="1F293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241280" y="2606040"/>
            <a:ext cx="4114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83879" y="3017520"/>
            <a:ext cx="411480" cy="411480"/>
          </a:xfrm>
          <a:prstGeom prst="rect">
            <a:avLst/>
          </a:prstGeom>
          <a:solidFill>
            <a:srgbClr val="1F293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595359" y="3017520"/>
            <a:ext cx="4114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006840" y="3017520"/>
            <a:ext cx="4114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18319" y="3017520"/>
            <a:ext cx="411480" cy="411480"/>
          </a:xfrm>
          <a:prstGeom prst="rect">
            <a:avLst/>
          </a:prstGeom>
          <a:solidFill>
            <a:srgbClr val="1F293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829800" y="3017520"/>
            <a:ext cx="4114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241280" y="3017520"/>
            <a:ext cx="4114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83879" y="3429000"/>
            <a:ext cx="4114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595359" y="3429000"/>
            <a:ext cx="4114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006840" y="3429000"/>
            <a:ext cx="411480" cy="411480"/>
          </a:xfrm>
          <a:prstGeom prst="rect">
            <a:avLst/>
          </a:prstGeom>
          <a:solidFill>
            <a:srgbClr val="1F293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418319" y="3429000"/>
            <a:ext cx="4114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829800" y="3429000"/>
            <a:ext cx="4114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241280" y="3429000"/>
            <a:ext cx="411480" cy="411480"/>
          </a:xfrm>
          <a:prstGeom prst="rect">
            <a:avLst/>
          </a:prstGeom>
          <a:solidFill>
            <a:srgbClr val="1F293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183879" y="3840480"/>
            <a:ext cx="4114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595359" y="3840480"/>
            <a:ext cx="411480" cy="411480"/>
          </a:xfrm>
          <a:prstGeom prst="rect">
            <a:avLst/>
          </a:prstGeom>
          <a:solidFill>
            <a:srgbClr val="1F293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006840" y="3840480"/>
            <a:ext cx="4114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418319" y="3840480"/>
            <a:ext cx="4114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829800" y="3840480"/>
            <a:ext cx="411480" cy="411480"/>
          </a:xfrm>
          <a:prstGeom prst="rect">
            <a:avLst/>
          </a:prstGeom>
          <a:solidFill>
            <a:srgbClr val="1F293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241280" y="3840480"/>
            <a:ext cx="4114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595359" y="2194560"/>
            <a:ext cx="1234440" cy="1234440"/>
          </a:xfrm>
          <a:prstGeom prst="rect">
            <a:avLst/>
          </a:prstGeom>
          <a:noFill/>
          <a:ln w="381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8321040" y="4572000"/>
            <a:ext cx="25603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94192" y="4681728"/>
            <a:ext cx="2414015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F46E5"/>
                </a:solidFill>
              </a:defRPr>
            </a:pPr>
            <a:r>
              <a:t>query window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01000" y="5559552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Biểu tượng của NumPy, Pandas, Matplotlib/Seaborn được sắp xếp thành một lưới 2x2, mỗi biểu tượng kèm theo một dòng mô tả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272784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Slide 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D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68122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1827"/>
                </a:solidFill>
              </a:defRPr>
            </a:pPr>
            <a:r>
              <a:t>Học có giám sát (Supervised Learning)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1261872"/>
            <a:ext cx="6446520" cy="347472"/>
          </a:xfrm>
          <a:prstGeom prst="roundRect">
            <a:avLst/>
          </a:prstGeom>
          <a:solidFill>
            <a:srgbClr val="ECFEFF"/>
          </a:solidFill>
          <a:ln>
            <a:solidFill>
              <a:srgbClr val="A5F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1325880"/>
            <a:ext cx="60350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4C5C"/>
                </a:solidFill>
              </a:defRPr>
            </a:pPr>
            <a:r>
              <a:t>Dự đoán dựa trên dữ liệu đã được gán nhãn.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755648"/>
            <a:ext cx="644652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02536"/>
            <a:ext cx="228600" cy="228600"/>
          </a:xfrm>
          <a:prstGeom prst="ellipse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98448" y="1865376"/>
            <a:ext cx="5532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700">
                <a:solidFill>
                  <a:srgbClr val="1F2937"/>
                </a:solidFill>
              </a:defRPr>
            </a:pPr>
            <a:r>
              <a:t>Mô hình học từ cặp dữ liệu đầu vào và đầu ra đã biết (có nhãn).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33472"/>
            <a:ext cx="644652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2880360"/>
            <a:ext cx="228600" cy="228600"/>
          </a:xfrm>
          <a:prstGeom prst="ellipse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98448" y="2743200"/>
            <a:ext cx="5532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700">
                <a:solidFill>
                  <a:srgbClr val="1F2937"/>
                </a:solidFill>
              </a:defRPr>
            </a:pPr>
            <a:r>
              <a:t>Dự đoán đầu ra cho dữ liệu mới chưa từng thấy.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3511296"/>
            <a:ext cx="644652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32688" y="3758183"/>
            <a:ext cx="228600" cy="228600"/>
          </a:xfrm>
          <a:prstGeom prst="ellipse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98448" y="3621024"/>
            <a:ext cx="5532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700">
                <a:solidFill>
                  <a:srgbClr val="1F2937"/>
                </a:solidFill>
              </a:defRPr>
            </a:pPr>
            <a:r>
              <a:t>Hai loại chính: Hồi quy (Regression) và Phân loại (Classification).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5440680"/>
            <a:ext cx="6446520" cy="566928"/>
          </a:xfrm>
          <a:prstGeom prst="roundRect">
            <a:avLst/>
          </a:prstGeom>
          <a:solidFill>
            <a:srgbClr val="FFFBEB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550408"/>
            <a:ext cx="60167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350F"/>
                </a:solidFill>
              </a:defRPr>
            </a:pPr>
            <a:r>
              <a:t>Giải thích rõ ràng sự khác biệt giữa Regression và Classification.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6679" y="1371600"/>
            <a:ext cx="3794760" cy="4069080"/>
          </a:xfrm>
          <a:prstGeom prst="roundRect">
            <a:avLst/>
          </a:prstGeom>
          <a:solidFill>
            <a:srgbClr val="ECFE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92440" y="1874519"/>
            <a:ext cx="30175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500" b="1">
                <a:solidFill>
                  <a:srgbClr val="0E7490"/>
                </a:solidFill>
              </a:defRPr>
            </a:pPr>
            <a:r>
              <a:t>Bước 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2926079"/>
            <a:ext cx="30175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500" b="1">
                <a:solidFill>
                  <a:srgbClr val="0E7490"/>
                </a:solidFill>
              </a:defRPr>
            </a:pPr>
            <a:r>
              <a:t>Bước 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3977639"/>
            <a:ext cx="30175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500" b="1">
                <a:solidFill>
                  <a:srgbClr val="0E7490"/>
                </a:solidFill>
              </a:defRPr>
            </a:pPr>
            <a:r>
              <a:t>Bước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5559552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Sơ đồ quy trình: Dữ liệu có nhãn (Input + Output) → Mô hình học → Mô hình đã học → Dữ liệu mới (Input) → Dự đoán (Output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272784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Slide 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D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68122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1827"/>
                </a:solidFill>
              </a:defRPr>
            </a:pPr>
            <a:r>
              <a:t>Học không giám sát (Unsupervised Learning)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1261872"/>
            <a:ext cx="6446520" cy="347472"/>
          </a:xfrm>
          <a:prstGeom prst="roundRect">
            <a:avLst/>
          </a:prstGeom>
          <a:solidFill>
            <a:srgbClr val="ECFEFF"/>
          </a:solidFill>
          <a:ln>
            <a:solidFill>
              <a:srgbClr val="A5F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1325880"/>
            <a:ext cx="60350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4C5C"/>
                </a:solidFill>
              </a:defRPr>
            </a:pPr>
            <a:r>
              <a:t>Tìm kiếm insight và cấu trúc ẩn trong dữ liệu không nhãn.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755648"/>
            <a:ext cx="644652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02536"/>
            <a:ext cx="228600" cy="228600"/>
          </a:xfrm>
          <a:prstGeom prst="ellipse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98448" y="1865376"/>
            <a:ext cx="5532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700">
                <a:solidFill>
                  <a:srgbClr val="1F2937"/>
                </a:solidFill>
              </a:defRPr>
            </a:pPr>
            <a:r>
              <a:t>Làm việc với dữ liệu không có nhãn đầu ra.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33472"/>
            <a:ext cx="644652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2880360"/>
            <a:ext cx="228600" cy="228600"/>
          </a:xfrm>
          <a:prstGeom prst="ellipse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98448" y="2743200"/>
            <a:ext cx="5532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700">
                <a:solidFill>
                  <a:srgbClr val="1F2937"/>
                </a:solidFill>
              </a:defRPr>
            </a:pPr>
            <a:r>
              <a:t>Tìm kiếm các mẫu, cấu trúc ẩn trong dữ liệu.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3511296"/>
            <a:ext cx="644652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32688" y="3758183"/>
            <a:ext cx="228600" cy="228600"/>
          </a:xfrm>
          <a:prstGeom prst="ellipse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98448" y="3621024"/>
            <a:ext cx="5532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700">
                <a:solidFill>
                  <a:srgbClr val="1F2937"/>
                </a:solidFill>
              </a:defRPr>
            </a:pPr>
            <a:r>
              <a:t>Các kỹ thuật phổ biến: Phân cụm (Clustering), Giảm chiều (PCA).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5440680"/>
            <a:ext cx="6446520" cy="566928"/>
          </a:xfrm>
          <a:prstGeom prst="roundRect">
            <a:avLst/>
          </a:prstGeom>
          <a:solidFill>
            <a:srgbClr val="FFFBEB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550408"/>
            <a:ext cx="60167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350F"/>
                </a:solidFill>
              </a:defRPr>
            </a:pPr>
            <a:r>
              <a:t>Phân biệt rõ ràng với Học có giám sát.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6679" y="1371600"/>
            <a:ext cx="3794760" cy="4069080"/>
          </a:xfrm>
          <a:prstGeom prst="roundRect">
            <a:avLst/>
          </a:prstGeom>
          <a:solidFill>
            <a:srgbClr val="EEF2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79" y="1783080"/>
            <a:ext cx="411480" cy="411480"/>
          </a:xfrm>
          <a:prstGeom prst="rect">
            <a:avLst/>
          </a:prstGeom>
          <a:solidFill>
            <a:srgbClr val="1F293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95359" y="1783080"/>
            <a:ext cx="4114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06840" y="1783080"/>
            <a:ext cx="4114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418319" y="1783080"/>
            <a:ext cx="411480" cy="411480"/>
          </a:xfrm>
          <a:prstGeom prst="rect">
            <a:avLst/>
          </a:prstGeom>
          <a:solidFill>
            <a:srgbClr val="1F293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829800" y="1783080"/>
            <a:ext cx="4114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241280" y="1783080"/>
            <a:ext cx="4114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83879" y="2194560"/>
            <a:ext cx="4114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95359" y="2194560"/>
            <a:ext cx="4114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06840" y="2194560"/>
            <a:ext cx="411480" cy="411480"/>
          </a:xfrm>
          <a:prstGeom prst="rect">
            <a:avLst/>
          </a:prstGeom>
          <a:solidFill>
            <a:srgbClr val="1F293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418319" y="2194560"/>
            <a:ext cx="4114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829800" y="2194560"/>
            <a:ext cx="4114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241280" y="2194560"/>
            <a:ext cx="411480" cy="411480"/>
          </a:xfrm>
          <a:prstGeom prst="rect">
            <a:avLst/>
          </a:prstGeom>
          <a:solidFill>
            <a:srgbClr val="1F293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83879" y="2606040"/>
            <a:ext cx="4114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95359" y="2606040"/>
            <a:ext cx="411480" cy="411480"/>
          </a:xfrm>
          <a:prstGeom prst="rect">
            <a:avLst/>
          </a:prstGeom>
          <a:solidFill>
            <a:srgbClr val="1F293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06840" y="2606040"/>
            <a:ext cx="4114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418319" y="2606040"/>
            <a:ext cx="4114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829800" y="2606040"/>
            <a:ext cx="411480" cy="411480"/>
          </a:xfrm>
          <a:prstGeom prst="rect">
            <a:avLst/>
          </a:prstGeom>
          <a:solidFill>
            <a:srgbClr val="1F293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241280" y="2606040"/>
            <a:ext cx="4114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83879" y="3017520"/>
            <a:ext cx="411480" cy="411480"/>
          </a:xfrm>
          <a:prstGeom prst="rect">
            <a:avLst/>
          </a:prstGeom>
          <a:solidFill>
            <a:srgbClr val="1F293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595359" y="3017520"/>
            <a:ext cx="4114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006840" y="3017520"/>
            <a:ext cx="4114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18319" y="3017520"/>
            <a:ext cx="411480" cy="411480"/>
          </a:xfrm>
          <a:prstGeom prst="rect">
            <a:avLst/>
          </a:prstGeom>
          <a:solidFill>
            <a:srgbClr val="1F293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829800" y="3017520"/>
            <a:ext cx="4114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241280" y="3017520"/>
            <a:ext cx="4114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83879" y="3429000"/>
            <a:ext cx="4114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595359" y="3429000"/>
            <a:ext cx="4114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006840" y="3429000"/>
            <a:ext cx="411480" cy="411480"/>
          </a:xfrm>
          <a:prstGeom prst="rect">
            <a:avLst/>
          </a:prstGeom>
          <a:solidFill>
            <a:srgbClr val="1F293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418319" y="3429000"/>
            <a:ext cx="4114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829800" y="3429000"/>
            <a:ext cx="4114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241280" y="3429000"/>
            <a:ext cx="411480" cy="411480"/>
          </a:xfrm>
          <a:prstGeom prst="rect">
            <a:avLst/>
          </a:prstGeom>
          <a:solidFill>
            <a:srgbClr val="1F293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183879" y="3840480"/>
            <a:ext cx="4114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595359" y="3840480"/>
            <a:ext cx="411480" cy="411480"/>
          </a:xfrm>
          <a:prstGeom prst="rect">
            <a:avLst/>
          </a:prstGeom>
          <a:solidFill>
            <a:srgbClr val="1F293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006840" y="3840480"/>
            <a:ext cx="4114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418319" y="3840480"/>
            <a:ext cx="4114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829800" y="3840480"/>
            <a:ext cx="411480" cy="411480"/>
          </a:xfrm>
          <a:prstGeom prst="rect">
            <a:avLst/>
          </a:prstGeom>
          <a:solidFill>
            <a:srgbClr val="1F293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241280" y="3840480"/>
            <a:ext cx="411480" cy="41148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595359" y="2194560"/>
            <a:ext cx="1234440" cy="1234440"/>
          </a:xfrm>
          <a:prstGeom prst="rect">
            <a:avLst/>
          </a:prstGeom>
          <a:noFill/>
          <a:ln w="381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8321040" y="4572000"/>
            <a:ext cx="25603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94192" y="4681728"/>
            <a:ext cx="2414015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F46E5"/>
                </a:solidFill>
              </a:defRPr>
            </a:pPr>
            <a:r>
              <a:t>query window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01000" y="5559552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Biểu đồ phân tán các điểm dữ liệu không nhãn, sau đó các điểm được nhóm lại thành các cụm màu khác nhau (minh họa Cluste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272784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Slide 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D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68122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1827"/>
                </a:solidFill>
              </a:defRPr>
            </a:pPr>
            <a:r>
              <a:t>Giới thiệu về Học sâu (Deep Learning)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1261872"/>
            <a:ext cx="6446520" cy="347472"/>
          </a:xfrm>
          <a:prstGeom prst="roundRect">
            <a:avLst/>
          </a:prstGeom>
          <a:solidFill>
            <a:srgbClr val="ECFEFF"/>
          </a:solidFill>
          <a:ln>
            <a:solidFill>
              <a:srgbClr val="A5F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1325880"/>
            <a:ext cx="60350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4C5C"/>
                </a:solidFill>
              </a:defRPr>
            </a:pPr>
            <a:r>
              <a:t>Mạng nơ-ron sâu học các mẫu phức tạp, mở ra nhiều ứng dụng mới.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755648"/>
            <a:ext cx="644652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02536"/>
            <a:ext cx="228600" cy="228600"/>
          </a:xfrm>
          <a:prstGeom prst="ellipse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98448" y="1865376"/>
            <a:ext cx="5532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700">
                <a:solidFill>
                  <a:srgbClr val="1F2937"/>
                </a:solidFill>
              </a:defRPr>
            </a:pPr>
            <a:r>
              <a:t>Một nhánh của Machine Learning, sử dụng mạng nơ-ron sâu.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33472"/>
            <a:ext cx="644652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2880360"/>
            <a:ext cx="228600" cy="228600"/>
          </a:xfrm>
          <a:prstGeom prst="ellipse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98448" y="2743200"/>
            <a:ext cx="5532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700">
                <a:solidFill>
                  <a:srgbClr val="1F2937"/>
                </a:solidFill>
              </a:defRPr>
            </a:pPr>
            <a:r>
              <a:t>Tự động học các đặc trưng phức tạp từ dữ liệu.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3511296"/>
            <a:ext cx="644652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32688" y="3758183"/>
            <a:ext cx="228600" cy="228600"/>
          </a:xfrm>
          <a:prstGeom prst="ellipse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98448" y="3621024"/>
            <a:ext cx="5532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700">
                <a:solidFill>
                  <a:srgbClr val="1F2937"/>
                </a:solidFill>
              </a:defRPr>
            </a:pPr>
            <a:r>
              <a:t>Lan truyền ngược (Backpropagation) là thuật toán huấn luyện chính.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5440680"/>
            <a:ext cx="6446520" cy="566928"/>
          </a:xfrm>
          <a:prstGeom prst="roundRect">
            <a:avLst/>
          </a:prstGeom>
          <a:solidFill>
            <a:srgbClr val="FFFBEB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550408"/>
            <a:ext cx="60167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350F"/>
                </a:solidFill>
              </a:defRPr>
            </a:pPr>
            <a:r>
              <a:t>Giới thiệu khái niệm cơ bản về Deep Learning và tầm quan trọng của nó.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6679" y="1371600"/>
            <a:ext cx="3794760" cy="4069080"/>
          </a:xfrm>
          <a:prstGeom prst="roundRect">
            <a:avLst/>
          </a:prstGeom>
          <a:solidFill>
            <a:srgbClr val="ECFDF5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 flipV="1">
            <a:off x="8458200" y="1874519"/>
            <a:ext cx="1691640" cy="182881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458200" y="2057400"/>
            <a:ext cx="914400" cy="100584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149840" y="1874519"/>
            <a:ext cx="411480" cy="2194561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372600" y="3063240"/>
            <a:ext cx="1188720" cy="100584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8321040" y="3063240"/>
            <a:ext cx="1051560" cy="123444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8247888" y="1847088"/>
            <a:ext cx="420624" cy="420624"/>
          </a:xfrm>
          <a:prstGeom prst="ellipse">
            <a:avLst/>
          </a:prstGeom>
          <a:solidFill>
            <a:srgbClr val="FFFFFF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0183" y="1965960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11827"/>
                </a:solidFill>
              </a:defRPr>
            </a:pPr>
            <a:r>
              <a:t>A</a:t>
            </a:r>
          </a:p>
        </p:txBody>
      </p:sp>
      <p:sp>
        <p:nvSpPr>
          <p:cNvPr id="25" name="Oval 24"/>
          <p:cNvSpPr/>
          <p:nvPr/>
        </p:nvSpPr>
        <p:spPr>
          <a:xfrm>
            <a:off x="9939528" y="1664207"/>
            <a:ext cx="420624" cy="420624"/>
          </a:xfrm>
          <a:prstGeom prst="ellipse">
            <a:avLst/>
          </a:prstGeom>
          <a:solidFill>
            <a:srgbClr val="FFFFFF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21824" y="1783079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11827"/>
                </a:solidFill>
              </a:defRPr>
            </a:pPr>
            <a:r>
              <a:t>B</a:t>
            </a:r>
          </a:p>
        </p:txBody>
      </p:sp>
      <p:sp>
        <p:nvSpPr>
          <p:cNvPr id="27" name="Oval 26"/>
          <p:cNvSpPr/>
          <p:nvPr/>
        </p:nvSpPr>
        <p:spPr>
          <a:xfrm>
            <a:off x="9162288" y="2852928"/>
            <a:ext cx="420624" cy="420624"/>
          </a:xfrm>
          <a:prstGeom prst="ellipse">
            <a:avLst/>
          </a:prstGeom>
          <a:solidFill>
            <a:srgbClr val="FFFFFF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44584" y="2971800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11827"/>
                </a:solidFill>
              </a:defRPr>
            </a:pPr>
            <a:r>
              <a:t>C</a:t>
            </a:r>
          </a:p>
        </p:txBody>
      </p:sp>
      <p:sp>
        <p:nvSpPr>
          <p:cNvPr id="29" name="Oval 28"/>
          <p:cNvSpPr/>
          <p:nvPr/>
        </p:nvSpPr>
        <p:spPr>
          <a:xfrm>
            <a:off x="10351008" y="3858768"/>
            <a:ext cx="420624" cy="420624"/>
          </a:xfrm>
          <a:prstGeom prst="ellipse">
            <a:avLst/>
          </a:prstGeom>
          <a:solidFill>
            <a:srgbClr val="FFFFFF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33304" y="3977640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11827"/>
                </a:solidFill>
              </a:defRPr>
            </a:pPr>
            <a:r>
              <a:t>D</a:t>
            </a:r>
          </a:p>
        </p:txBody>
      </p:sp>
      <p:sp>
        <p:nvSpPr>
          <p:cNvPr id="31" name="Oval 30"/>
          <p:cNvSpPr/>
          <p:nvPr/>
        </p:nvSpPr>
        <p:spPr>
          <a:xfrm>
            <a:off x="8110727" y="4087368"/>
            <a:ext cx="420624" cy="420624"/>
          </a:xfrm>
          <a:prstGeom prst="ellipse">
            <a:avLst/>
          </a:prstGeom>
          <a:solidFill>
            <a:srgbClr val="FFFFFF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93023" y="4206240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11827"/>
                </a:solidFill>
              </a:defRPr>
            </a:pPr>
            <a:r>
              <a:t>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66760" y="4800600"/>
            <a:ext cx="25603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39912" y="4910328"/>
            <a:ext cx="24140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59669"/>
                </a:solidFill>
              </a:defRPr>
            </a:pPr>
            <a:r>
              <a:t>nodes + edges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1000" y="5559552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Sơ đồ mạng nơ-ron với nhiều lớp (input, hidden layers, output), các nơ-ron được kết nối. Mũi tên chỉ hướng lan truyền 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272784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Slide 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D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68122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1827"/>
                </a:solidFill>
              </a:defRPr>
            </a:pPr>
            <a:r>
              <a:t>Các lĩnh vực ứng dụng chính của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1261872"/>
            <a:ext cx="6446520" cy="347472"/>
          </a:xfrm>
          <a:prstGeom prst="roundRect">
            <a:avLst/>
          </a:prstGeom>
          <a:solidFill>
            <a:srgbClr val="ECFEFF"/>
          </a:solidFill>
          <a:ln>
            <a:solidFill>
              <a:srgbClr val="A5F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1325880"/>
            <a:ext cx="60350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4C5C"/>
                </a:solidFill>
              </a:defRPr>
            </a:pPr>
            <a:r>
              <a:t>AI đang thay đổi nhiều lĩnh vực với các ứng dụng đa dạng và mạnh mẽ.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755648"/>
            <a:ext cx="644652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02536"/>
            <a:ext cx="228600" cy="228600"/>
          </a:xfrm>
          <a:prstGeom prst="ellipse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98448" y="1865376"/>
            <a:ext cx="5532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700">
                <a:solidFill>
                  <a:srgbClr val="1F2937"/>
                </a:solidFill>
              </a:defRPr>
            </a:pPr>
            <a:r>
              <a:t>Thị giác máy tính (Computer Vision): Nhận diện vật thể, phân loại ảnh.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33472"/>
            <a:ext cx="644652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2880360"/>
            <a:ext cx="228600" cy="228600"/>
          </a:xfrm>
          <a:prstGeom prst="ellipse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98448" y="2743200"/>
            <a:ext cx="5532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700">
                <a:solidFill>
                  <a:srgbClr val="1F2937"/>
                </a:solidFill>
              </a:defRPr>
            </a:pPr>
            <a:r>
              <a:t>Xử lý ngôn ngữ tự nhiên (NLP): Dịch máy, chatbot, tóm tắt văn bản.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3511296"/>
            <a:ext cx="644652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32688" y="3758183"/>
            <a:ext cx="228600" cy="228600"/>
          </a:xfrm>
          <a:prstGeom prst="ellipse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98448" y="3621024"/>
            <a:ext cx="5532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700">
                <a:solidFill>
                  <a:srgbClr val="1F2937"/>
                </a:solidFill>
              </a:defRPr>
            </a:pPr>
            <a:r>
              <a:t>Mạng đối kháng tạo sinh (GANs): Tạo dữ liệu mới, nâng cao ảnh.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5440680"/>
            <a:ext cx="6446520" cy="566928"/>
          </a:xfrm>
          <a:prstGeom prst="roundRect">
            <a:avLst/>
          </a:prstGeom>
          <a:solidFill>
            <a:srgbClr val="FFFBEB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550408"/>
            <a:ext cx="60167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350F"/>
                </a:solidFill>
              </a:defRPr>
            </a:pPr>
            <a:r>
              <a:t>Tổng hợp các ứng dụng nổi bật để người học hình dung được tiềm năng của AI.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6679" y="1371600"/>
            <a:ext cx="3794760" cy="4069080"/>
          </a:xfrm>
          <a:prstGeom prst="roundRect">
            <a:avLst/>
          </a:prstGeom>
          <a:solidFill>
            <a:srgbClr val="ECFE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92440" y="1828800"/>
            <a:ext cx="14173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65592" y="1938528"/>
            <a:ext cx="127101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E7490"/>
                </a:solidFill>
              </a:defRPr>
            </a:pPr>
            <a:r>
              <a:t>Tree / MEX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21240" y="1828800"/>
            <a:ext cx="14173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94392" y="1938528"/>
            <a:ext cx="127101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E7490"/>
                </a:solidFill>
              </a:defRPr>
            </a:pPr>
            <a:r>
              <a:t>Knapsack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3246120"/>
            <a:ext cx="14173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65592" y="3355848"/>
            <a:ext cx="127101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E7490"/>
                </a:solidFill>
              </a:defRPr>
            </a:pPr>
            <a:r>
              <a:t>Grid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21240" y="3246120"/>
            <a:ext cx="14173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94392" y="3355848"/>
            <a:ext cx="127101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E7490"/>
                </a:solidFill>
              </a:defRPr>
            </a:pPr>
            <a:r>
              <a:t>Modulo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23960" y="4526280"/>
            <a:ext cx="178308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97112" y="4636008"/>
            <a:ext cx="1636776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E7490"/>
                </a:solidFill>
              </a:defRPr>
            </a:pPr>
            <a:r>
              <a:t>Recap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5559552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Ba biểu tượng lớn đại diện cho CV (mắt camera), NLP (bong bóng thoại/văn bản), GANs (hai robot đối kháng hoặc ảnh tạo si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272784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Slide 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D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68122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1827"/>
                </a:solidFill>
              </a:defRPr>
            </a:pPr>
            <a:r>
              <a:t>Tổng kết và Hành trình phía trước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1261872"/>
            <a:ext cx="6446520" cy="347472"/>
          </a:xfrm>
          <a:prstGeom prst="roundRect">
            <a:avLst/>
          </a:prstGeom>
          <a:solidFill>
            <a:srgbClr val="ECFEFF"/>
          </a:solidFill>
          <a:ln>
            <a:solidFill>
              <a:srgbClr val="A5F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1325880"/>
            <a:ext cx="60350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4C5C"/>
                </a:solidFill>
              </a:defRPr>
            </a:pPr>
            <a:r>
              <a:t>Nền tảng vững chắc để khám phá sâu hơn thế giới AI.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755648"/>
            <a:ext cx="644652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02536"/>
            <a:ext cx="228600" cy="228600"/>
          </a:xfrm>
          <a:prstGeom prst="ellipse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98448" y="1865376"/>
            <a:ext cx="5532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700">
                <a:solidFill>
                  <a:srgbClr val="1F2937"/>
                </a:solidFill>
              </a:defRPr>
            </a:pPr>
            <a:r>
              <a:t>Đã nắm vững các khái niệm cơ bản về AI và Python.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33472"/>
            <a:ext cx="644652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2880360"/>
            <a:ext cx="228600" cy="228600"/>
          </a:xfrm>
          <a:prstGeom prst="ellipse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98448" y="2743200"/>
            <a:ext cx="5532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700">
                <a:solidFill>
                  <a:srgbClr val="1F2937"/>
                </a:solidFill>
              </a:defRPr>
            </a:pPr>
            <a:r>
              <a:t>Hiểu về các thư viện, học có/không giám sát, Deep Learning.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3511296"/>
            <a:ext cx="644652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32688" y="3758183"/>
            <a:ext cx="228600" cy="228600"/>
          </a:xfrm>
          <a:prstGeom prst="ellipse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98448" y="3621024"/>
            <a:ext cx="5532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700">
                <a:solidFill>
                  <a:srgbClr val="1F2937"/>
                </a:solidFill>
              </a:defRPr>
            </a:pPr>
            <a:r>
              <a:t>Sẵn sàng xây dựng các dự án AI của riêng bạn.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4389120"/>
            <a:ext cx="644652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32688" y="4636008"/>
            <a:ext cx="228600" cy="228600"/>
          </a:xfrm>
          <a:prstGeom prst="ellipse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98448" y="4498848"/>
            <a:ext cx="5532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700">
                <a:solidFill>
                  <a:srgbClr val="1F2937"/>
                </a:solidFill>
              </a:defRPr>
            </a:pPr>
            <a:r>
              <a:t>Tiếp tục khám phá các chủ đề chuyên sâu hơn.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5440680"/>
            <a:ext cx="6446520" cy="566928"/>
          </a:xfrm>
          <a:prstGeom prst="roundRect">
            <a:avLst/>
          </a:prstGeom>
          <a:solidFill>
            <a:srgbClr val="FFFBEB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5550408"/>
            <a:ext cx="60167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350F"/>
                </a:solidFill>
              </a:defRPr>
            </a:pPr>
            <a:r>
              <a:t>Khuyến khích người học tiếp tục thực hành và tìm hiểu thêm.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26679" y="1371600"/>
            <a:ext cx="3794760" cy="4069080"/>
          </a:xfrm>
          <a:prstGeom prst="roundRect">
            <a:avLst/>
          </a:prstGeom>
          <a:solidFill>
            <a:srgbClr val="ECFE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92440" y="1828800"/>
            <a:ext cx="14173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65592" y="1938528"/>
            <a:ext cx="127101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E7490"/>
                </a:solidFill>
              </a:defRPr>
            </a:pPr>
            <a:r>
              <a:t>Tree / MEX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921240" y="1828800"/>
            <a:ext cx="14173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94392" y="1938528"/>
            <a:ext cx="127101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E7490"/>
                </a:solidFill>
              </a:defRPr>
            </a:pPr>
            <a:r>
              <a:t>Knapsack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3246120"/>
            <a:ext cx="14173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65592" y="3355848"/>
            <a:ext cx="127101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E7490"/>
                </a:solidFill>
              </a:defRPr>
            </a:pPr>
            <a:r>
              <a:t>Grid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21240" y="3246120"/>
            <a:ext cx="14173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94392" y="3355848"/>
            <a:ext cx="127101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E7490"/>
                </a:solidFill>
              </a:defRPr>
            </a:pPr>
            <a:r>
              <a:t>Modulo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23960" y="4526280"/>
            <a:ext cx="178308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97112" y="4636008"/>
            <a:ext cx="1636776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E7490"/>
                </a:solidFill>
              </a:defRPr>
            </a:pPr>
            <a:r>
              <a:t>Recap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0" y="5559552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Một con đường dẫn đến một chân trời với các biểu tượng AI (robot, neural network, data visualization) ở phía xa, tượng 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272784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Slide 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